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16"/>
  </p:notesMasterIdLst>
  <p:sldIdLst>
    <p:sldId id="257" r:id="rId2"/>
    <p:sldId id="258" r:id="rId3"/>
    <p:sldId id="259" r:id="rId4"/>
    <p:sldId id="260" r:id="rId5"/>
    <p:sldId id="269" r:id="rId6"/>
    <p:sldId id="262" r:id="rId7"/>
    <p:sldId id="273" r:id="rId8"/>
    <p:sldId id="263" r:id="rId9"/>
    <p:sldId id="275" r:id="rId10"/>
    <p:sldId id="266" r:id="rId11"/>
    <p:sldId id="278" r:id="rId12"/>
    <p:sldId id="277" r:id="rId13"/>
    <p:sldId id="279" r:id="rId14"/>
    <p:sldId id="267" r:id="rId15"/>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2C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67D522-74A9-41D6-B7C2-A8F55646D277}" v="3" dt="2024-08-21T19:10:36.8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16" autoAdjust="0"/>
    <p:restoredTop sz="79869" autoAdjust="0"/>
  </p:normalViewPr>
  <p:slideViewPr>
    <p:cSldViewPr snapToGrid="0">
      <p:cViewPr varScale="1">
        <p:scale>
          <a:sx n="66" d="100"/>
          <a:sy n="66" d="100"/>
        </p:scale>
        <p:origin x="1627"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ana" userId="55b241363e871431" providerId="LiveId" clId="{FEB21817-008F-4293-ACFB-111C816EF01D}"/>
    <pc:docChg chg="undo redo custSel addSld delSld modSld sldOrd">
      <pc:chgData name="Briana" userId="55b241363e871431" providerId="LiveId" clId="{FEB21817-008F-4293-ACFB-111C816EF01D}" dt="2023-09-02T02:33:26.921" v="1742" actId="20577"/>
      <pc:docMkLst>
        <pc:docMk/>
      </pc:docMkLst>
      <pc:sldChg chg="modSp mod">
        <pc:chgData name="Briana" userId="55b241363e871431" providerId="LiveId" clId="{FEB21817-008F-4293-ACFB-111C816EF01D}" dt="2023-09-02T02:17:40.993" v="6" actId="20577"/>
        <pc:sldMkLst>
          <pc:docMk/>
          <pc:sldMk cId="1293174391" sldId="257"/>
        </pc:sldMkLst>
        <pc:spChg chg="mod">
          <ac:chgData name="Briana" userId="55b241363e871431" providerId="LiveId" clId="{FEB21817-008F-4293-ACFB-111C816EF01D}" dt="2023-09-02T02:17:40.993" v="6" actId="20577"/>
          <ac:spMkLst>
            <pc:docMk/>
            <pc:sldMk cId="1293174391" sldId="257"/>
            <ac:spMk id="2" creationId="{F1A6B4CF-5E12-28A1-C74C-1B2FD65792E3}"/>
          </ac:spMkLst>
        </pc:spChg>
      </pc:sldChg>
      <pc:sldChg chg="modSp mod">
        <pc:chgData name="Briana" userId="55b241363e871431" providerId="LiveId" clId="{FEB21817-008F-4293-ACFB-111C816EF01D}" dt="2023-09-02T02:17:48.569" v="25" actId="20577"/>
        <pc:sldMkLst>
          <pc:docMk/>
          <pc:sldMk cId="1311437982" sldId="258"/>
        </pc:sldMkLst>
        <pc:spChg chg="mod">
          <ac:chgData name="Briana" userId="55b241363e871431" providerId="LiveId" clId="{FEB21817-008F-4293-ACFB-111C816EF01D}" dt="2023-09-02T02:17:48.569" v="25" actId="20577"/>
          <ac:spMkLst>
            <pc:docMk/>
            <pc:sldMk cId="1311437982" sldId="258"/>
            <ac:spMk id="2" creationId="{8B84198E-7C74-FA95-37B5-CCC98BDB658B}"/>
          </ac:spMkLst>
        </pc:spChg>
      </pc:sldChg>
      <pc:sldChg chg="modSp mod">
        <pc:chgData name="Briana" userId="55b241363e871431" providerId="LiveId" clId="{FEB21817-008F-4293-ACFB-111C816EF01D}" dt="2023-09-02T02:17:52.697" v="39" actId="20577"/>
        <pc:sldMkLst>
          <pc:docMk/>
          <pc:sldMk cId="2779689775" sldId="259"/>
        </pc:sldMkLst>
        <pc:spChg chg="mod">
          <ac:chgData name="Briana" userId="55b241363e871431" providerId="LiveId" clId="{FEB21817-008F-4293-ACFB-111C816EF01D}" dt="2023-09-02T02:17:52.697" v="39" actId="20577"/>
          <ac:spMkLst>
            <pc:docMk/>
            <pc:sldMk cId="2779689775" sldId="259"/>
            <ac:spMk id="2" creationId="{81ADDC12-5607-3A7B-FC22-14DB44EF8E4F}"/>
          </ac:spMkLst>
        </pc:spChg>
      </pc:sldChg>
      <pc:sldChg chg="addSp delSp modSp mod setBg modNotesTx">
        <pc:chgData name="Briana" userId="55b241363e871431" providerId="LiveId" clId="{FEB21817-008F-4293-ACFB-111C816EF01D}" dt="2023-09-02T02:26:53.577" v="660" actId="20577"/>
        <pc:sldMkLst>
          <pc:docMk/>
          <pc:sldMk cId="3749217337" sldId="260"/>
        </pc:sldMkLst>
        <pc:spChg chg="mod">
          <ac:chgData name="Briana" userId="55b241363e871431" providerId="LiveId" clId="{FEB21817-008F-4293-ACFB-111C816EF01D}" dt="2023-09-02T02:25:23.513" v="412" actId="26606"/>
          <ac:spMkLst>
            <pc:docMk/>
            <pc:sldMk cId="3749217337" sldId="260"/>
            <ac:spMk id="2" creationId="{1F67070D-781C-D6EC-5B7E-3F71AA1C8497}"/>
          </ac:spMkLst>
        </pc:spChg>
        <pc:spChg chg="mod">
          <ac:chgData name="Briana" userId="55b241363e871431" providerId="LiveId" clId="{FEB21817-008F-4293-ACFB-111C816EF01D}" dt="2023-09-02T02:25:32.049" v="415" actId="404"/>
          <ac:spMkLst>
            <pc:docMk/>
            <pc:sldMk cId="3749217337" sldId="260"/>
            <ac:spMk id="3" creationId="{BD04EE83-8546-E3C7-FBA4-AE28EE75FE7E}"/>
          </ac:spMkLst>
        </pc:spChg>
        <pc:spChg chg="add del mod">
          <ac:chgData name="Briana" userId="55b241363e871431" providerId="LiveId" clId="{FEB21817-008F-4293-ACFB-111C816EF01D}" dt="2023-09-02T02:20:50.937" v="243" actId="478"/>
          <ac:spMkLst>
            <pc:docMk/>
            <pc:sldMk cId="3749217337" sldId="260"/>
            <ac:spMk id="4" creationId="{5A9429E7-2AEF-03FE-07A6-B6B561108366}"/>
          </ac:spMkLst>
        </pc:spChg>
        <pc:spChg chg="add del mod">
          <ac:chgData name="Briana" userId="55b241363e871431" providerId="LiveId" clId="{FEB21817-008F-4293-ACFB-111C816EF01D}" dt="2023-09-02T02:20:49.513" v="242" actId="478"/>
          <ac:spMkLst>
            <pc:docMk/>
            <pc:sldMk cId="3749217337" sldId="260"/>
            <ac:spMk id="5" creationId="{133678D6-A969-8404-5720-D2DFC514ADC0}"/>
          </ac:spMkLst>
        </pc:spChg>
        <pc:spChg chg="add del">
          <ac:chgData name="Briana" userId="55b241363e871431" providerId="LiveId" clId="{FEB21817-008F-4293-ACFB-111C816EF01D}" dt="2023-09-02T02:25:23.513" v="412" actId="26606"/>
          <ac:spMkLst>
            <pc:docMk/>
            <pc:sldMk cId="3749217337" sldId="260"/>
            <ac:spMk id="13" creationId="{C493E730-2044-49B5-A022-B8D6F359343E}"/>
          </ac:spMkLst>
        </pc:spChg>
        <pc:spChg chg="add">
          <ac:chgData name="Briana" userId="55b241363e871431" providerId="LiveId" clId="{FEB21817-008F-4293-ACFB-111C816EF01D}" dt="2023-09-02T02:25:23.513" v="412" actId="26606"/>
          <ac:spMkLst>
            <pc:docMk/>
            <pc:sldMk cId="3749217337" sldId="260"/>
            <ac:spMk id="20" creationId="{E4055289-E0C6-4BD3-83C1-D3C3059323A2}"/>
          </ac:spMkLst>
        </pc:spChg>
        <pc:spChg chg="add">
          <ac:chgData name="Briana" userId="55b241363e871431" providerId="LiveId" clId="{FEB21817-008F-4293-ACFB-111C816EF01D}" dt="2023-09-02T02:25:23.513" v="412" actId="26606"/>
          <ac:spMkLst>
            <pc:docMk/>
            <pc:sldMk cId="3749217337" sldId="260"/>
            <ac:spMk id="22" creationId="{3D0E302E-D9CD-4301-A67C-2F0F43791D81}"/>
          </ac:spMkLst>
        </pc:spChg>
        <pc:spChg chg="add">
          <ac:chgData name="Briana" userId="55b241363e871431" providerId="LiveId" clId="{FEB21817-008F-4293-ACFB-111C816EF01D}" dt="2023-09-02T02:25:23.513" v="412" actId="26606"/>
          <ac:spMkLst>
            <pc:docMk/>
            <pc:sldMk cId="3749217337" sldId="260"/>
            <ac:spMk id="26" creationId="{35174CBE-3C8C-4936-BADC-26BFB4F07FA9}"/>
          </ac:spMkLst>
        </pc:spChg>
        <pc:spChg chg="add">
          <ac:chgData name="Briana" userId="55b241363e871431" providerId="LiveId" clId="{FEB21817-008F-4293-ACFB-111C816EF01D}" dt="2023-09-02T02:25:23.513" v="412" actId="26606"/>
          <ac:spMkLst>
            <pc:docMk/>
            <pc:sldMk cId="3749217337" sldId="260"/>
            <ac:spMk id="30" creationId="{932BC668-4D51-4090-89E3-5613B832E4F8}"/>
          </ac:spMkLst>
        </pc:spChg>
        <pc:grpChg chg="add del">
          <ac:chgData name="Briana" userId="55b241363e871431" providerId="LiveId" clId="{FEB21817-008F-4293-ACFB-111C816EF01D}" dt="2023-09-02T02:25:23.513" v="412" actId="26606"/>
          <ac:grpSpMkLst>
            <pc:docMk/>
            <pc:sldMk cId="3749217337" sldId="260"/>
            <ac:grpSpMk id="9" creationId="{5B988D63-FA8B-436C-902E-E5005BC0492F}"/>
          </ac:grpSpMkLst>
        </pc:grpChg>
        <pc:picChg chg="add mod">
          <ac:chgData name="Briana" userId="55b241363e871431" providerId="LiveId" clId="{FEB21817-008F-4293-ACFB-111C816EF01D}" dt="2023-09-02T02:25:23.513" v="412" actId="26606"/>
          <ac:picMkLst>
            <pc:docMk/>
            <pc:sldMk cId="3749217337" sldId="260"/>
            <ac:picMk id="6" creationId="{A6A342AB-D557-7E7E-5E1A-72B3BCE96BAC}"/>
          </ac:picMkLst>
        </pc:picChg>
        <pc:picChg chg="add del">
          <ac:chgData name="Briana" userId="55b241363e871431" providerId="LiveId" clId="{FEB21817-008F-4293-ACFB-111C816EF01D}" dt="2023-09-02T02:25:23.513" v="412" actId="26606"/>
          <ac:picMkLst>
            <pc:docMk/>
            <pc:sldMk cId="3749217337" sldId="260"/>
            <ac:picMk id="15" creationId="{78976801-4346-4636-BA62-265C81DFE7C4}"/>
          </ac:picMkLst>
        </pc:picChg>
        <pc:picChg chg="add">
          <ac:chgData name="Briana" userId="55b241363e871431" providerId="LiveId" clId="{FEB21817-008F-4293-ACFB-111C816EF01D}" dt="2023-09-02T02:25:23.513" v="412" actId="26606"/>
          <ac:picMkLst>
            <pc:docMk/>
            <pc:sldMk cId="3749217337" sldId="260"/>
            <ac:picMk id="24" creationId="{CA457133-9802-4229-B919-FF91AE235CCB}"/>
          </ac:picMkLst>
        </pc:picChg>
        <pc:picChg chg="add">
          <ac:chgData name="Briana" userId="55b241363e871431" providerId="LiveId" clId="{FEB21817-008F-4293-ACFB-111C816EF01D}" dt="2023-09-02T02:25:23.513" v="412" actId="26606"/>
          <ac:picMkLst>
            <pc:docMk/>
            <pc:sldMk cId="3749217337" sldId="260"/>
            <ac:picMk id="28" creationId="{74CBD692-4D03-4764-98E3-F95783857866}"/>
          </ac:picMkLst>
        </pc:picChg>
      </pc:sldChg>
      <pc:sldChg chg="addSp delSp modSp del">
        <pc:chgData name="Briana" userId="55b241363e871431" providerId="LiveId" clId="{FEB21817-008F-4293-ACFB-111C816EF01D}" dt="2023-09-02T02:19:16.377" v="207" actId="47"/>
        <pc:sldMkLst>
          <pc:docMk/>
          <pc:sldMk cId="3131591898" sldId="261"/>
        </pc:sldMkLst>
        <pc:spChg chg="del">
          <ac:chgData name="Briana" userId="55b241363e871431" providerId="LiveId" clId="{FEB21817-008F-4293-ACFB-111C816EF01D}" dt="2023-09-02T02:19:06.173" v="205"/>
          <ac:spMkLst>
            <pc:docMk/>
            <pc:sldMk cId="3131591898" sldId="261"/>
            <ac:spMk id="2" creationId="{0DCF2A2B-5863-9947-F6DB-8C9C8A9D2308}"/>
          </ac:spMkLst>
        </pc:spChg>
        <pc:spChg chg="add mod">
          <ac:chgData name="Briana" userId="55b241363e871431" providerId="LiveId" clId="{FEB21817-008F-4293-ACFB-111C816EF01D}" dt="2023-09-02T02:19:06.173" v="205"/>
          <ac:spMkLst>
            <pc:docMk/>
            <pc:sldMk cId="3131591898" sldId="261"/>
            <ac:spMk id="5" creationId="{2E33A11C-F6CF-6D80-A697-02FBDA95E236}"/>
          </ac:spMkLst>
        </pc:spChg>
      </pc:sldChg>
      <pc:sldChg chg="addSp delSp modSp mod modNotesTx">
        <pc:chgData name="Briana" userId="55b241363e871431" providerId="LiveId" clId="{FEB21817-008F-4293-ACFB-111C816EF01D}" dt="2023-09-02T02:28:54.593" v="988" actId="20577"/>
        <pc:sldMkLst>
          <pc:docMk/>
          <pc:sldMk cId="2839499382" sldId="262"/>
        </pc:sldMkLst>
        <pc:spChg chg="mod">
          <ac:chgData name="Briana" userId="55b241363e871431" providerId="LiveId" clId="{FEB21817-008F-4293-ACFB-111C816EF01D}" dt="2023-09-02T02:21:04.297" v="255" actId="20577"/>
          <ac:spMkLst>
            <pc:docMk/>
            <pc:sldMk cId="2839499382" sldId="262"/>
            <ac:spMk id="2" creationId="{34E39F14-1BD7-CE95-AEEA-2F81054E999D}"/>
          </ac:spMkLst>
        </pc:spChg>
        <pc:spChg chg="mod">
          <ac:chgData name="Briana" userId="55b241363e871431" providerId="LiveId" clId="{FEB21817-008F-4293-ACFB-111C816EF01D}" dt="2023-09-02T02:27:58.492" v="844" actId="20578"/>
          <ac:spMkLst>
            <pc:docMk/>
            <pc:sldMk cId="2839499382" sldId="262"/>
            <ac:spMk id="3" creationId="{E11414A6-E2D4-7A66-EF1A-1ABB16D558BF}"/>
          </ac:spMkLst>
        </pc:spChg>
        <pc:spChg chg="del mod">
          <ac:chgData name="Briana" userId="55b241363e871431" providerId="LiveId" clId="{FEB21817-008F-4293-ACFB-111C816EF01D}" dt="2023-09-02T02:24:38.618" v="400" actId="478"/>
          <ac:spMkLst>
            <pc:docMk/>
            <pc:sldMk cId="2839499382" sldId="262"/>
            <ac:spMk id="4" creationId="{91EE6286-AB47-F31E-629B-D1B18B715953}"/>
          </ac:spMkLst>
        </pc:spChg>
        <pc:spChg chg="add del mod">
          <ac:chgData name="Briana" userId="55b241363e871431" providerId="LiveId" clId="{FEB21817-008F-4293-ACFB-111C816EF01D}" dt="2023-09-02T02:24:39.921" v="401" actId="478"/>
          <ac:spMkLst>
            <pc:docMk/>
            <pc:sldMk cId="2839499382" sldId="262"/>
            <ac:spMk id="6" creationId="{369015A7-76B3-E99E-6A0B-0116566BDD58}"/>
          </ac:spMkLst>
        </pc:spChg>
      </pc:sldChg>
      <pc:sldChg chg="modSp mod">
        <pc:chgData name="Briana" userId="55b241363e871431" providerId="LiveId" clId="{FEB21817-008F-4293-ACFB-111C816EF01D}" dt="2023-09-02T02:21:52.409" v="291" actId="20577"/>
        <pc:sldMkLst>
          <pc:docMk/>
          <pc:sldMk cId="386844794" sldId="263"/>
        </pc:sldMkLst>
        <pc:spChg chg="mod">
          <ac:chgData name="Briana" userId="55b241363e871431" providerId="LiveId" clId="{FEB21817-008F-4293-ACFB-111C816EF01D}" dt="2023-09-02T02:21:39.937" v="283" actId="20577"/>
          <ac:spMkLst>
            <pc:docMk/>
            <pc:sldMk cId="386844794" sldId="263"/>
            <ac:spMk id="2" creationId="{5CE17E9E-4CE5-F598-4075-5DED2421C408}"/>
          </ac:spMkLst>
        </pc:spChg>
        <pc:spChg chg="mod">
          <ac:chgData name="Briana" userId="55b241363e871431" providerId="LiveId" clId="{FEB21817-008F-4293-ACFB-111C816EF01D}" dt="2023-09-02T02:21:50.721" v="290" actId="20577"/>
          <ac:spMkLst>
            <pc:docMk/>
            <pc:sldMk cId="386844794" sldId="263"/>
            <ac:spMk id="3" creationId="{F38330F5-5EEE-0DC1-4A0B-E5D986C46932}"/>
          </ac:spMkLst>
        </pc:spChg>
        <pc:spChg chg="mod">
          <ac:chgData name="Briana" userId="55b241363e871431" providerId="LiveId" clId="{FEB21817-008F-4293-ACFB-111C816EF01D}" dt="2023-09-02T02:21:52.409" v="291" actId="20577"/>
          <ac:spMkLst>
            <pc:docMk/>
            <pc:sldMk cId="386844794" sldId="263"/>
            <ac:spMk id="4" creationId="{91CBE1A2-8DF5-0DE6-B9E9-900A336FC44B}"/>
          </ac:spMkLst>
        </pc:spChg>
      </pc:sldChg>
      <pc:sldChg chg="del">
        <pc:chgData name="Briana" userId="55b241363e871431" providerId="LiveId" clId="{FEB21817-008F-4293-ACFB-111C816EF01D}" dt="2023-09-02T02:24:15.254" v="395" actId="47"/>
        <pc:sldMkLst>
          <pc:docMk/>
          <pc:sldMk cId="2477241821" sldId="264"/>
        </pc:sldMkLst>
      </pc:sldChg>
      <pc:sldChg chg="modSp del mod">
        <pc:chgData name="Briana" userId="55b241363e871431" providerId="LiveId" clId="{FEB21817-008F-4293-ACFB-111C816EF01D}" dt="2023-09-02T02:22:19.166" v="311" actId="47"/>
        <pc:sldMkLst>
          <pc:docMk/>
          <pc:sldMk cId="3621554895" sldId="265"/>
        </pc:sldMkLst>
        <pc:spChg chg="mod">
          <ac:chgData name="Briana" userId="55b241363e871431" providerId="LiveId" clId="{FEB21817-008F-4293-ACFB-111C816EF01D}" dt="2023-09-02T02:21:58.985" v="306" actId="20577"/>
          <ac:spMkLst>
            <pc:docMk/>
            <pc:sldMk cId="3621554895" sldId="265"/>
            <ac:spMk id="2" creationId="{872BABE6-865D-F8C3-941C-C3CD1E639C9D}"/>
          </ac:spMkLst>
        </pc:spChg>
      </pc:sldChg>
      <pc:sldChg chg="modSp mod ord">
        <pc:chgData name="Briana" userId="55b241363e871431" providerId="LiveId" clId="{FEB21817-008F-4293-ACFB-111C816EF01D}" dt="2023-09-02T02:32:05.353" v="1558" actId="20577"/>
        <pc:sldMkLst>
          <pc:docMk/>
          <pc:sldMk cId="4075962238" sldId="266"/>
        </pc:sldMkLst>
        <pc:spChg chg="mod">
          <ac:chgData name="Briana" userId="55b241363e871431" providerId="LiveId" clId="{FEB21817-008F-4293-ACFB-111C816EF01D}" dt="2023-09-02T02:22:24.433" v="326" actId="20577"/>
          <ac:spMkLst>
            <pc:docMk/>
            <pc:sldMk cId="4075962238" sldId="266"/>
            <ac:spMk id="2" creationId="{177BEE18-CB46-269F-9680-0263231558ED}"/>
          </ac:spMkLst>
        </pc:spChg>
        <pc:spChg chg="mod">
          <ac:chgData name="Briana" userId="55b241363e871431" providerId="LiveId" clId="{FEB21817-008F-4293-ACFB-111C816EF01D}" dt="2023-09-02T02:32:05.353" v="1558" actId="20577"/>
          <ac:spMkLst>
            <pc:docMk/>
            <pc:sldMk cId="4075962238" sldId="266"/>
            <ac:spMk id="3" creationId="{BB71061D-6D39-FA41-555B-E6807831BF63}"/>
          </ac:spMkLst>
        </pc:spChg>
      </pc:sldChg>
      <pc:sldChg chg="modSp mod">
        <pc:chgData name="Briana" userId="55b241363e871431" providerId="LiveId" clId="{FEB21817-008F-4293-ACFB-111C816EF01D}" dt="2023-09-02T02:33:26.921" v="1742" actId="20577"/>
        <pc:sldMkLst>
          <pc:docMk/>
          <pc:sldMk cId="516957012" sldId="267"/>
        </pc:sldMkLst>
        <pc:spChg chg="mod">
          <ac:chgData name="Briana" userId="55b241363e871431" providerId="LiveId" clId="{FEB21817-008F-4293-ACFB-111C816EF01D}" dt="2023-09-02T02:24:11.897" v="393" actId="20577"/>
          <ac:spMkLst>
            <pc:docMk/>
            <pc:sldMk cId="516957012" sldId="267"/>
            <ac:spMk id="2" creationId="{858A8C50-B23E-7EC1-CE24-C725E4F117D1}"/>
          </ac:spMkLst>
        </pc:spChg>
        <pc:spChg chg="mod">
          <ac:chgData name="Briana" userId="55b241363e871431" providerId="LiveId" clId="{FEB21817-008F-4293-ACFB-111C816EF01D}" dt="2023-09-02T02:33:15.954" v="1738" actId="20577"/>
          <ac:spMkLst>
            <pc:docMk/>
            <pc:sldMk cId="516957012" sldId="267"/>
            <ac:spMk id="3" creationId="{C3BE2E33-9213-BB8B-50AC-3C767BB6922D}"/>
          </ac:spMkLst>
        </pc:spChg>
        <pc:spChg chg="mod">
          <ac:chgData name="Briana" userId="55b241363e871431" providerId="LiveId" clId="{FEB21817-008F-4293-ACFB-111C816EF01D}" dt="2023-09-02T02:33:26.921" v="1742" actId="20577"/>
          <ac:spMkLst>
            <pc:docMk/>
            <pc:sldMk cId="516957012" sldId="267"/>
            <ac:spMk id="4" creationId="{176186F5-8631-3596-A7A2-98C273C5E515}"/>
          </ac:spMkLst>
        </pc:spChg>
      </pc:sldChg>
      <pc:sldChg chg="addSp delSp del mod">
        <pc:chgData name="Briana" userId="55b241363e871431" providerId="LiveId" clId="{FEB21817-008F-4293-ACFB-111C816EF01D}" dt="2023-09-02T02:24:14.334" v="394" actId="47"/>
        <pc:sldMkLst>
          <pc:docMk/>
          <pc:sldMk cId="935281634" sldId="268"/>
        </pc:sldMkLst>
        <pc:spChg chg="add del">
          <ac:chgData name="Briana" userId="55b241363e871431" providerId="LiveId" clId="{FEB21817-008F-4293-ACFB-111C816EF01D}" dt="2023-09-02T02:24:05.537" v="376" actId="478"/>
          <ac:spMkLst>
            <pc:docMk/>
            <pc:sldMk cId="935281634" sldId="268"/>
            <ac:spMk id="7" creationId="{6697AC1E-8D40-DD88-2C06-3253FB7DDDF8}"/>
          </ac:spMkLst>
        </pc:spChg>
        <pc:spChg chg="add del">
          <ac:chgData name="Briana" userId="55b241363e871431" providerId="LiveId" clId="{FEB21817-008F-4293-ACFB-111C816EF01D}" dt="2023-09-02T02:24:05.289" v="375" actId="478"/>
          <ac:spMkLst>
            <pc:docMk/>
            <pc:sldMk cId="935281634" sldId="268"/>
            <ac:spMk id="8" creationId="{307F2B3A-2A59-A5A5-8F65-299D7119EB32}"/>
          </ac:spMkLst>
        </pc:spChg>
      </pc:sldChg>
      <pc:sldChg chg="addSp delSp modSp add mod setBg modNotesTx">
        <pc:chgData name="Briana" userId="55b241363e871431" providerId="LiveId" clId="{FEB21817-008F-4293-ACFB-111C816EF01D}" dt="2023-09-02T02:27:10.097" v="734" actId="20577"/>
        <pc:sldMkLst>
          <pc:docMk/>
          <pc:sldMk cId="2523484113" sldId="269"/>
        </pc:sldMkLst>
        <pc:spChg chg="mod">
          <ac:chgData name="Briana" userId="55b241363e871431" providerId="LiveId" clId="{FEB21817-008F-4293-ACFB-111C816EF01D}" dt="2023-09-02T02:20:26.234" v="241" actId="26606"/>
          <ac:spMkLst>
            <pc:docMk/>
            <pc:sldMk cId="2523484113" sldId="269"/>
            <ac:spMk id="2" creationId="{1F67070D-781C-D6EC-5B7E-3F71AA1C8497}"/>
          </ac:spMkLst>
        </pc:spChg>
        <pc:spChg chg="del mod">
          <ac:chgData name="Briana" userId="55b241363e871431" providerId="LiveId" clId="{FEB21817-008F-4293-ACFB-111C816EF01D}" dt="2023-09-02T02:20:26.234" v="241" actId="26606"/>
          <ac:spMkLst>
            <pc:docMk/>
            <pc:sldMk cId="2523484113" sldId="269"/>
            <ac:spMk id="3" creationId="{BD04EE83-8546-E3C7-FBA4-AE28EE75FE7E}"/>
          </ac:spMkLst>
        </pc:spChg>
        <pc:spChg chg="del">
          <ac:chgData name="Briana" userId="55b241363e871431" providerId="LiveId" clId="{FEB21817-008F-4293-ACFB-111C816EF01D}" dt="2023-09-02T02:19:26.553" v="217" actId="478"/>
          <ac:spMkLst>
            <pc:docMk/>
            <pc:sldMk cId="2523484113" sldId="269"/>
            <ac:spMk id="4" creationId="{5A9429E7-2AEF-03FE-07A6-B6B561108366}"/>
          </ac:spMkLst>
        </pc:spChg>
        <pc:spChg chg="del mod">
          <ac:chgData name="Briana" userId="55b241363e871431" providerId="LiveId" clId="{FEB21817-008F-4293-ACFB-111C816EF01D}" dt="2023-09-02T02:19:34.233" v="222" actId="478"/>
          <ac:spMkLst>
            <pc:docMk/>
            <pc:sldMk cId="2523484113" sldId="269"/>
            <ac:spMk id="5" creationId="{133678D6-A969-8404-5720-D2DFC514ADC0}"/>
          </ac:spMkLst>
        </pc:spChg>
        <pc:spChg chg="add">
          <ac:chgData name="Briana" userId="55b241363e871431" providerId="LiveId" clId="{FEB21817-008F-4293-ACFB-111C816EF01D}" dt="2023-09-02T02:20:26.234" v="241" actId="26606"/>
          <ac:spMkLst>
            <pc:docMk/>
            <pc:sldMk cId="2523484113" sldId="269"/>
            <ac:spMk id="9" creationId="{B2A773CA-28F4-49C2-BFA3-49A5867C7AFB}"/>
          </ac:spMkLst>
        </pc:spChg>
        <pc:spChg chg="add">
          <ac:chgData name="Briana" userId="55b241363e871431" providerId="LiveId" clId="{FEB21817-008F-4293-ACFB-111C816EF01D}" dt="2023-09-02T02:20:26.234" v="241" actId="26606"/>
          <ac:spMkLst>
            <pc:docMk/>
            <pc:sldMk cId="2523484113" sldId="269"/>
            <ac:spMk id="13" creationId="{3009A16D-868B-4145-BBC6-555098537EC2}"/>
          </ac:spMkLst>
        </pc:spChg>
        <pc:spChg chg="add">
          <ac:chgData name="Briana" userId="55b241363e871431" providerId="LiveId" clId="{FEB21817-008F-4293-ACFB-111C816EF01D}" dt="2023-09-02T02:20:26.234" v="241" actId="26606"/>
          <ac:spMkLst>
            <pc:docMk/>
            <pc:sldMk cId="2523484113" sldId="269"/>
            <ac:spMk id="17" creationId="{2DCAE5CF-5D29-4779-83E1-BDB64E4F30E5}"/>
          </ac:spMkLst>
        </pc:spChg>
        <pc:graphicFrameChg chg="add">
          <ac:chgData name="Briana" userId="55b241363e871431" providerId="LiveId" clId="{FEB21817-008F-4293-ACFB-111C816EF01D}" dt="2023-09-02T02:20:26.234" v="241" actId="26606"/>
          <ac:graphicFrameMkLst>
            <pc:docMk/>
            <pc:sldMk cId="2523484113" sldId="269"/>
            <ac:graphicFrameMk id="6" creationId="{B60C2D62-D2AB-4669-8CA8-697AA2753939}"/>
          </ac:graphicFrameMkLst>
        </pc:graphicFrameChg>
        <pc:picChg chg="add">
          <ac:chgData name="Briana" userId="55b241363e871431" providerId="LiveId" clId="{FEB21817-008F-4293-ACFB-111C816EF01D}" dt="2023-09-02T02:20:26.234" v="241" actId="26606"/>
          <ac:picMkLst>
            <pc:docMk/>
            <pc:sldMk cId="2523484113" sldId="269"/>
            <ac:picMk id="11" creationId="{5D7C72BA-4476-4E4B-BC37-9A75FD0C5951}"/>
          </ac:picMkLst>
        </pc:picChg>
        <pc:picChg chg="add">
          <ac:chgData name="Briana" userId="55b241363e871431" providerId="LiveId" clId="{FEB21817-008F-4293-ACFB-111C816EF01D}" dt="2023-09-02T02:20:26.234" v="241" actId="26606"/>
          <ac:picMkLst>
            <pc:docMk/>
            <pc:sldMk cId="2523484113" sldId="269"/>
            <ac:picMk id="15" creationId="{3992EB33-38E1-4175-8EE2-9BB8CC159C7B}"/>
          </ac:picMkLst>
        </pc:picChg>
      </pc:sldChg>
      <pc:sldChg chg="modSp add mod">
        <pc:chgData name="Briana" userId="55b241363e871431" providerId="LiveId" clId="{FEB21817-008F-4293-ACFB-111C816EF01D}" dt="2023-09-02T02:32:22.465" v="1587" actId="20577"/>
        <pc:sldMkLst>
          <pc:docMk/>
          <pc:sldMk cId="4092262171" sldId="270"/>
        </pc:sldMkLst>
        <pc:spChg chg="mod">
          <ac:chgData name="Briana" userId="55b241363e871431" providerId="LiveId" clId="{FEB21817-008F-4293-ACFB-111C816EF01D}" dt="2023-09-02T02:32:22.465" v="1587" actId="20577"/>
          <ac:spMkLst>
            <pc:docMk/>
            <pc:sldMk cId="4092262171" sldId="270"/>
            <ac:spMk id="3" creationId="{BB71061D-6D39-FA41-555B-E6807831BF63}"/>
          </ac:spMkLst>
        </pc:spChg>
      </pc:sldChg>
      <pc:sldChg chg="new">
        <pc:chgData name="Briana" userId="55b241363e871431" providerId="LiveId" clId="{FEB21817-008F-4293-ACFB-111C816EF01D}" dt="2023-09-02T02:23:21.715" v="371" actId="680"/>
        <pc:sldMkLst>
          <pc:docMk/>
          <pc:sldMk cId="3101171939" sldId="271"/>
        </pc:sldMkLst>
      </pc:sldChg>
      <pc:sldChg chg="new add del">
        <pc:chgData name="Briana" userId="55b241363e871431" providerId="LiveId" clId="{FEB21817-008F-4293-ACFB-111C816EF01D}" dt="2023-09-02T02:24:07.179" v="378" actId="680"/>
        <pc:sldMkLst>
          <pc:docMk/>
          <pc:sldMk cId="1021910457" sldId="272"/>
        </pc:sldMkLst>
      </pc:sldChg>
      <pc:sldChg chg="addSp delSp modSp add mod modNotesTx">
        <pc:chgData name="Briana" userId="55b241363e871431" providerId="LiveId" clId="{FEB21817-008F-4293-ACFB-111C816EF01D}" dt="2023-09-02T02:29:10.212" v="989"/>
        <pc:sldMkLst>
          <pc:docMk/>
          <pc:sldMk cId="1663860875" sldId="273"/>
        </pc:sldMkLst>
        <pc:spChg chg="del">
          <ac:chgData name="Briana" userId="55b241363e871431" providerId="LiveId" clId="{FEB21817-008F-4293-ACFB-111C816EF01D}" dt="2023-09-02T02:24:29.030" v="397" actId="478"/>
          <ac:spMkLst>
            <pc:docMk/>
            <pc:sldMk cId="1663860875" sldId="273"/>
            <ac:spMk id="3" creationId="{E11414A6-E2D4-7A66-EF1A-1ABB16D558BF}"/>
          </ac:spMkLst>
        </pc:spChg>
        <pc:spChg chg="mod">
          <ac:chgData name="Briana" userId="55b241363e871431" providerId="LiveId" clId="{FEB21817-008F-4293-ACFB-111C816EF01D}" dt="2023-09-02T02:24:32.947" v="399" actId="14100"/>
          <ac:spMkLst>
            <pc:docMk/>
            <pc:sldMk cId="1663860875" sldId="273"/>
            <ac:spMk id="4" creationId="{91EE6286-AB47-F31E-629B-D1B18B715953}"/>
          </ac:spMkLst>
        </pc:spChg>
        <pc:spChg chg="add del mod">
          <ac:chgData name="Briana" userId="55b241363e871431" providerId="LiveId" clId="{FEB21817-008F-4293-ACFB-111C816EF01D}" dt="2023-09-02T02:24:30.753" v="398" actId="478"/>
          <ac:spMkLst>
            <pc:docMk/>
            <pc:sldMk cId="1663860875" sldId="273"/>
            <ac:spMk id="6" creationId="{2F62749A-1D6F-6325-25CC-9D949305F2AE}"/>
          </ac:spMkLst>
        </pc:spChg>
      </pc:sldChg>
    </pc:docChg>
  </pc:docChgLst>
  <pc:docChgLst>
    <pc:chgData name="Briana B" userId="55b241363e871431" providerId="LiveId" clId="{2767D522-74A9-41D6-B7C2-A8F55646D277}"/>
    <pc:docChg chg="undo custSel modSld modNotesMaster">
      <pc:chgData name="Briana B" userId="55b241363e871431" providerId="LiveId" clId="{2767D522-74A9-41D6-B7C2-A8F55646D277}" dt="2024-08-21T19:10:36.830" v="118"/>
      <pc:docMkLst>
        <pc:docMk/>
      </pc:docMkLst>
      <pc:sldChg chg="modSp mod modNotes">
        <pc:chgData name="Briana B" userId="55b241363e871431" providerId="LiveId" clId="{2767D522-74A9-41D6-B7C2-A8F55646D277}" dt="2024-08-21T16:59:49.425" v="117" actId="14100"/>
        <pc:sldMkLst>
          <pc:docMk/>
          <pc:sldMk cId="1293174391" sldId="257"/>
        </pc:sldMkLst>
        <pc:spChg chg="mod">
          <ac:chgData name="Briana B" userId="55b241363e871431" providerId="LiveId" clId="{2767D522-74A9-41D6-B7C2-A8F55646D277}" dt="2024-08-21T16:38:14.489" v="39" actId="27636"/>
          <ac:spMkLst>
            <pc:docMk/>
            <pc:sldMk cId="1293174391" sldId="257"/>
            <ac:spMk id="2" creationId="{F1A6B4CF-5E12-28A1-C74C-1B2FD65792E3}"/>
          </ac:spMkLst>
        </pc:spChg>
        <pc:spChg chg="mod">
          <ac:chgData name="Briana B" userId="55b241363e871431" providerId="LiveId" clId="{2767D522-74A9-41D6-B7C2-A8F55646D277}" dt="2024-08-21T16:59:49.425" v="117" actId="14100"/>
          <ac:spMkLst>
            <pc:docMk/>
            <pc:sldMk cId="1293174391" sldId="257"/>
            <ac:spMk id="3" creationId="{308AFDDF-4F1F-7B99-5CD7-1BCB605AA667}"/>
          </ac:spMkLst>
        </pc:spChg>
      </pc:sldChg>
      <pc:sldChg chg="modNotes">
        <pc:chgData name="Briana B" userId="55b241363e871431" providerId="LiveId" clId="{2767D522-74A9-41D6-B7C2-A8F55646D277}" dt="2024-08-21T16:39:09.762" v="41"/>
        <pc:sldMkLst>
          <pc:docMk/>
          <pc:sldMk cId="1311437982" sldId="258"/>
        </pc:sldMkLst>
      </pc:sldChg>
      <pc:sldChg chg="modSp mod modNotes">
        <pc:chgData name="Briana B" userId="55b241363e871431" providerId="LiveId" clId="{2767D522-74A9-41D6-B7C2-A8F55646D277}" dt="2024-08-21T16:38:14.499" v="40" actId="27636"/>
        <pc:sldMkLst>
          <pc:docMk/>
          <pc:sldMk cId="2779689775" sldId="259"/>
        </pc:sldMkLst>
        <pc:spChg chg="mod">
          <ac:chgData name="Briana B" userId="55b241363e871431" providerId="LiveId" clId="{2767D522-74A9-41D6-B7C2-A8F55646D277}" dt="2024-08-21T16:38:14.499" v="40" actId="27636"/>
          <ac:spMkLst>
            <pc:docMk/>
            <pc:sldMk cId="2779689775" sldId="259"/>
            <ac:spMk id="2" creationId="{81ADDC12-5607-3A7B-FC22-14DB44EF8E4F}"/>
          </ac:spMkLst>
        </pc:spChg>
      </pc:sldChg>
      <pc:sldChg chg="modNotes">
        <pc:chgData name="Briana B" userId="55b241363e871431" providerId="LiveId" clId="{2767D522-74A9-41D6-B7C2-A8F55646D277}" dt="2024-08-21T16:38:14.415" v="38"/>
        <pc:sldMkLst>
          <pc:docMk/>
          <pc:sldMk cId="3749217337" sldId="260"/>
        </pc:sldMkLst>
      </pc:sldChg>
      <pc:sldChg chg="modNotes">
        <pc:chgData name="Briana B" userId="55b241363e871431" providerId="LiveId" clId="{2767D522-74A9-41D6-B7C2-A8F55646D277}" dt="2024-08-21T16:38:14.415" v="38"/>
        <pc:sldMkLst>
          <pc:docMk/>
          <pc:sldMk cId="2839499382" sldId="262"/>
        </pc:sldMkLst>
      </pc:sldChg>
      <pc:sldChg chg="modSp mod modNotes">
        <pc:chgData name="Briana B" userId="55b241363e871431" providerId="LiveId" clId="{2767D522-74A9-41D6-B7C2-A8F55646D277}" dt="2024-08-21T16:39:09.843" v="43" actId="27636"/>
        <pc:sldMkLst>
          <pc:docMk/>
          <pc:sldMk cId="386844794" sldId="263"/>
        </pc:sldMkLst>
        <pc:spChg chg="mod">
          <ac:chgData name="Briana B" userId="55b241363e871431" providerId="LiveId" clId="{2767D522-74A9-41D6-B7C2-A8F55646D277}" dt="2024-08-21T16:39:09.843" v="43" actId="27636"/>
          <ac:spMkLst>
            <pc:docMk/>
            <pc:sldMk cId="386844794" sldId="263"/>
            <ac:spMk id="3" creationId="{F38330F5-5EEE-0DC1-4A0B-E5D986C46932}"/>
          </ac:spMkLst>
        </pc:spChg>
        <pc:spChg chg="mod">
          <ac:chgData name="Briana B" userId="55b241363e871431" providerId="LiveId" clId="{2767D522-74A9-41D6-B7C2-A8F55646D277}" dt="2024-08-21T16:39:09.842" v="42" actId="27636"/>
          <ac:spMkLst>
            <pc:docMk/>
            <pc:sldMk cId="386844794" sldId="263"/>
            <ac:spMk id="4" creationId="{91CBE1A2-8DF5-0DE6-B9E9-900A336FC44B}"/>
          </ac:spMkLst>
        </pc:spChg>
      </pc:sldChg>
      <pc:sldChg chg="modSp mod modNotesTx">
        <pc:chgData name="Briana B" userId="55b241363e871431" providerId="LiveId" clId="{2767D522-74A9-41D6-B7C2-A8F55646D277}" dt="2024-08-21T16:55:13.709" v="87" actId="255"/>
        <pc:sldMkLst>
          <pc:docMk/>
          <pc:sldMk cId="4075962238" sldId="266"/>
        </pc:sldMkLst>
        <pc:spChg chg="mod">
          <ac:chgData name="Briana B" userId="55b241363e871431" providerId="LiveId" clId="{2767D522-74A9-41D6-B7C2-A8F55646D277}" dt="2024-08-21T16:55:13.709" v="87" actId="255"/>
          <ac:spMkLst>
            <pc:docMk/>
            <pc:sldMk cId="4075962238" sldId="266"/>
            <ac:spMk id="4" creationId="{A79A3A72-CC66-7522-816C-B6F8EBB5EA67}"/>
          </ac:spMkLst>
        </pc:spChg>
      </pc:sldChg>
      <pc:sldChg chg="modSp mod modNotes">
        <pc:chgData name="Briana B" userId="55b241363e871431" providerId="LiveId" clId="{2767D522-74A9-41D6-B7C2-A8F55646D277}" dt="2024-08-21T16:58:16.433" v="114" actId="14100"/>
        <pc:sldMkLst>
          <pc:docMk/>
          <pc:sldMk cId="516957012" sldId="267"/>
        </pc:sldMkLst>
        <pc:spChg chg="mod">
          <ac:chgData name="Briana B" userId="55b241363e871431" providerId="LiveId" clId="{2767D522-74A9-41D6-B7C2-A8F55646D277}" dt="2024-08-21T16:57:40.330" v="103" actId="14100"/>
          <ac:spMkLst>
            <pc:docMk/>
            <pc:sldMk cId="516957012" sldId="267"/>
            <ac:spMk id="3" creationId="{C3BE2E33-9213-BB8B-50AC-3C767BB6922D}"/>
          </ac:spMkLst>
        </pc:spChg>
        <pc:graphicFrameChg chg="mod">
          <ac:chgData name="Briana B" userId="55b241363e871431" providerId="LiveId" clId="{2767D522-74A9-41D6-B7C2-A8F55646D277}" dt="2024-08-21T16:58:16.433" v="114" actId="14100"/>
          <ac:graphicFrameMkLst>
            <pc:docMk/>
            <pc:sldMk cId="516957012" sldId="267"/>
            <ac:graphicFrameMk id="7" creationId="{7FD2D403-CDB3-4D34-73F4-722974C722D3}"/>
          </ac:graphicFrameMkLst>
        </pc:graphicFrameChg>
      </pc:sldChg>
      <pc:sldChg chg="modSp modNotes">
        <pc:chgData name="Briana B" userId="55b241363e871431" providerId="LiveId" clId="{2767D522-74A9-41D6-B7C2-A8F55646D277}" dt="2024-08-21T16:38:14.415" v="38"/>
        <pc:sldMkLst>
          <pc:docMk/>
          <pc:sldMk cId="2523484113" sldId="269"/>
        </pc:sldMkLst>
        <pc:graphicFrameChg chg="mod">
          <ac:chgData name="Briana B" userId="55b241363e871431" providerId="LiveId" clId="{2767D522-74A9-41D6-B7C2-A8F55646D277}" dt="2024-08-21T16:38:14.415" v="38"/>
          <ac:graphicFrameMkLst>
            <pc:docMk/>
            <pc:sldMk cId="2523484113" sldId="269"/>
            <ac:graphicFrameMk id="6" creationId="{B60C2D62-D2AB-4669-8CA8-697AA2753939}"/>
          </ac:graphicFrameMkLst>
        </pc:graphicFrameChg>
      </pc:sldChg>
      <pc:sldChg chg="modSp mod">
        <pc:chgData name="Briana B" userId="55b241363e871431" providerId="LiveId" clId="{2767D522-74A9-41D6-B7C2-A8F55646D277}" dt="2024-08-21T16:43:54.584" v="65" actId="255"/>
        <pc:sldMkLst>
          <pc:docMk/>
          <pc:sldMk cId="1663860875" sldId="273"/>
        </pc:sldMkLst>
        <pc:spChg chg="mod">
          <ac:chgData name="Briana B" userId="55b241363e871431" providerId="LiveId" clId="{2767D522-74A9-41D6-B7C2-A8F55646D277}" dt="2024-08-21T16:43:54.584" v="65" actId="255"/>
          <ac:spMkLst>
            <pc:docMk/>
            <pc:sldMk cId="1663860875" sldId="273"/>
            <ac:spMk id="4" creationId="{91EE6286-AB47-F31E-629B-D1B18B715953}"/>
          </ac:spMkLst>
        </pc:spChg>
      </pc:sldChg>
      <pc:sldChg chg="modSp mod modNotes">
        <pc:chgData name="Briana B" userId="55b241363e871431" providerId="LiveId" clId="{2767D522-74A9-41D6-B7C2-A8F55646D277}" dt="2024-08-21T16:52:40.369" v="66" actId="255"/>
        <pc:sldMkLst>
          <pc:docMk/>
          <pc:sldMk cId="2251413688" sldId="275"/>
        </pc:sldMkLst>
        <pc:spChg chg="mod">
          <ac:chgData name="Briana B" userId="55b241363e871431" providerId="LiveId" clId="{2767D522-74A9-41D6-B7C2-A8F55646D277}" dt="2024-08-21T16:52:40.369" v="66" actId="255"/>
          <ac:spMkLst>
            <pc:docMk/>
            <pc:sldMk cId="2251413688" sldId="275"/>
            <ac:spMk id="5" creationId="{35398D40-A07F-7CD0-6E70-513EC3C6E377}"/>
          </ac:spMkLst>
        </pc:spChg>
      </pc:sldChg>
      <pc:sldChg chg="modSp mod modNotes modNotesTx">
        <pc:chgData name="Briana B" userId="55b241363e871431" providerId="LiveId" clId="{2767D522-74A9-41D6-B7C2-A8F55646D277}" dt="2024-08-21T16:56:25.585" v="96" actId="20577"/>
        <pc:sldMkLst>
          <pc:docMk/>
          <pc:sldMk cId="866278065" sldId="277"/>
        </pc:sldMkLst>
        <pc:spChg chg="mod">
          <ac:chgData name="Briana B" userId="55b241363e871431" providerId="LiveId" clId="{2767D522-74A9-41D6-B7C2-A8F55646D277}" dt="2024-08-21T16:56:00.591" v="95" actId="14100"/>
          <ac:spMkLst>
            <pc:docMk/>
            <pc:sldMk cId="866278065" sldId="277"/>
            <ac:spMk id="4" creationId="{A79A3A72-CC66-7522-816C-B6F8EBB5EA67}"/>
          </ac:spMkLst>
        </pc:spChg>
      </pc:sldChg>
      <pc:sldChg chg="modSp mod">
        <pc:chgData name="Briana B" userId="55b241363e871431" providerId="LiveId" clId="{2767D522-74A9-41D6-B7C2-A8F55646D277}" dt="2024-08-21T16:55:31.095" v="89" actId="255"/>
        <pc:sldMkLst>
          <pc:docMk/>
          <pc:sldMk cId="953823075" sldId="278"/>
        </pc:sldMkLst>
        <pc:spChg chg="mod">
          <ac:chgData name="Briana B" userId="55b241363e871431" providerId="LiveId" clId="{2767D522-74A9-41D6-B7C2-A8F55646D277}" dt="2024-08-21T16:55:31.095" v="89" actId="255"/>
          <ac:spMkLst>
            <pc:docMk/>
            <pc:sldMk cId="953823075" sldId="278"/>
            <ac:spMk id="6" creationId="{ADCC350A-8863-80B4-B0E7-B5A929D657A4}"/>
          </ac:spMkLst>
        </pc:spChg>
      </pc:sldChg>
      <pc:sldChg chg="modSp modNotes">
        <pc:chgData name="Briana B" userId="55b241363e871431" providerId="LiveId" clId="{2767D522-74A9-41D6-B7C2-A8F55646D277}" dt="2024-08-21T16:38:14.415" v="38"/>
        <pc:sldMkLst>
          <pc:docMk/>
          <pc:sldMk cId="3354057034" sldId="279"/>
        </pc:sldMkLst>
        <pc:spChg chg="mod">
          <ac:chgData name="Briana B" userId="55b241363e871431" providerId="LiveId" clId="{2767D522-74A9-41D6-B7C2-A8F55646D277}" dt="2024-08-21T16:38:14.415" v="38"/>
          <ac:spMkLst>
            <pc:docMk/>
            <pc:sldMk cId="3354057034" sldId="279"/>
            <ac:spMk id="4" creationId="{E8A20A59-6F00-09B6-0258-350DAFFB8EA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bbara\OneDrive\Desktop\School\D374\Task%203\Survey%20Results%20-%20The%20Olde%20Cheese%20Shopp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bbara\OneDrive\Desktop\School\D374\Task%203\Survey%20Results%20-%20The%20Olde%20Cheese%20Shopp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368586018393096E-2"/>
          <c:y val="2.7205039533966184E-2"/>
          <c:w val="0.96007784113772576"/>
          <c:h val="0.85647306623190533"/>
        </c:manualLayout>
      </c:layout>
      <c:barChart>
        <c:barDir val="col"/>
        <c:grouping val="clustered"/>
        <c:varyColors val="0"/>
        <c:ser>
          <c:idx val="0"/>
          <c:order val="0"/>
          <c:tx>
            <c:v>Total Respondents</c:v>
          </c:tx>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c:spPr>
          <c:invertIfNegative val="0"/>
          <c:cat>
            <c:strRef>
              <c:f>'Q,1'!$B$9:$B$17</c:f>
              <c:strCache>
                <c:ptCount val="9"/>
                <c:pt idx="0">
                  <c:v>Large selection of cheeses</c:v>
                </c:pt>
                <c:pt idx="1">
                  <c:v>Imported cheeses are available</c:v>
                </c:pt>
                <c:pt idx="2">
                  <c:v>Domestic cheeses are available</c:v>
                </c:pt>
                <c:pt idx="3">
                  <c:v>Gourmet cheeses are available</c:v>
                </c:pt>
                <c:pt idx="4">
                  <c:v>Weekly special offers</c:v>
                </c:pt>
                <c:pt idx="5">
                  <c:v>Cleanliness of facility</c:v>
                </c:pt>
                <c:pt idx="6">
                  <c:v>Friendliness of staff</c:v>
                </c:pt>
                <c:pt idx="7">
                  <c:v>Reasonable prices</c:v>
                </c:pt>
                <c:pt idx="8">
                  <c:v>Good location</c:v>
                </c:pt>
              </c:strCache>
            </c:strRef>
          </c:cat>
          <c:val>
            <c:numRef>
              <c:f>'Q,1'!$C$9:$C$17</c:f>
              <c:numCache>
                <c:formatCode>0</c:formatCode>
                <c:ptCount val="9"/>
                <c:pt idx="0">
                  <c:v>39.68</c:v>
                </c:pt>
                <c:pt idx="1">
                  <c:v>58.88</c:v>
                </c:pt>
                <c:pt idx="2">
                  <c:v>32</c:v>
                </c:pt>
                <c:pt idx="3">
                  <c:v>61.44</c:v>
                </c:pt>
                <c:pt idx="4">
                  <c:v>10.24</c:v>
                </c:pt>
                <c:pt idx="5">
                  <c:v>8.9600000000000009</c:v>
                </c:pt>
                <c:pt idx="6">
                  <c:v>12.8</c:v>
                </c:pt>
                <c:pt idx="7">
                  <c:v>19.2</c:v>
                </c:pt>
                <c:pt idx="8">
                  <c:v>12.8</c:v>
                </c:pt>
              </c:numCache>
            </c:numRef>
          </c:val>
          <c:extLst>
            <c:ext xmlns:c16="http://schemas.microsoft.com/office/drawing/2014/chart" uri="{C3380CC4-5D6E-409C-BE32-E72D297353CC}">
              <c16:uniqueId val="{00000000-FDFA-492F-A4A0-40F78B620EAF}"/>
            </c:ext>
          </c:extLst>
        </c:ser>
        <c:dLbls>
          <c:showLegendKey val="0"/>
          <c:showVal val="0"/>
          <c:showCatName val="0"/>
          <c:showSerName val="0"/>
          <c:showPercent val="0"/>
          <c:showBubbleSize val="0"/>
        </c:dLbls>
        <c:gapWidth val="100"/>
        <c:overlap val="-24"/>
        <c:axId val="1774991344"/>
        <c:axId val="1774992304"/>
      </c:barChart>
      <c:catAx>
        <c:axId val="1774991344"/>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774992304"/>
        <c:crosses val="autoZero"/>
        <c:auto val="1"/>
        <c:lblAlgn val="ctr"/>
        <c:lblOffset val="100"/>
        <c:noMultiLvlLbl val="0"/>
      </c:catAx>
      <c:valAx>
        <c:axId val="1774992304"/>
        <c:scaling>
          <c:orientation val="minMax"/>
        </c:scaling>
        <c:delete val="0"/>
        <c:axPos val="l"/>
        <c:majorGridlines>
          <c:spPr>
            <a:ln w="9525" cap="flat" cmpd="sng" algn="ctr">
              <a:solidFill>
                <a:schemeClr val="tx2">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7749913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Overall Satisfaction </a:t>
            </a:r>
          </a:p>
          <a:p>
            <a:pPr>
              <a:defRPr/>
            </a:pPr>
            <a:r>
              <a:rPr lang="en-US" dirty="0"/>
              <a:t>by Age</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'Q,2'!$C$40</c:f>
              <c:strCache>
                <c:ptCount val="1"/>
                <c:pt idx="0">
                  <c:v>&lt; 20</c:v>
                </c:pt>
              </c:strCache>
            </c:strRef>
          </c:tx>
          <c:spPr>
            <a:gradFill rotWithShape="1">
              <a:gsLst>
                <a:gs pos="0">
                  <a:schemeClr val="accent1">
                    <a:tint val="50000"/>
                    <a:tint val="94000"/>
                    <a:satMod val="103000"/>
                    <a:lumMod val="102000"/>
                  </a:schemeClr>
                </a:gs>
                <a:gs pos="50000">
                  <a:schemeClr val="accent1">
                    <a:tint val="50000"/>
                    <a:shade val="100000"/>
                    <a:satMod val="110000"/>
                    <a:lumMod val="100000"/>
                  </a:schemeClr>
                </a:gs>
                <a:gs pos="100000">
                  <a:schemeClr val="accent1">
                    <a:tint val="50000"/>
                    <a:shade val="78000"/>
                    <a:satMod val="120000"/>
                    <a:lumMod val="99000"/>
                  </a:schemeClr>
                </a:gs>
              </a:gsLst>
              <a:lin ang="5400000" scaled="0"/>
            </a:gradFill>
            <a:ln>
              <a:noFill/>
            </a:ln>
            <a:effectLst>
              <a:outerShdw blurRad="57150" dist="19050" dir="5400000" algn="ctr" rotWithShape="0">
                <a:srgbClr val="000000">
                  <a:alpha val="63000"/>
                </a:srgbClr>
              </a:outerShdw>
            </a:effectLst>
          </c:spPr>
          <c:invertIfNegative val="0"/>
          <c:cat>
            <c:strRef>
              <c:f>'Q,2'!$B$41:$B$49</c:f>
              <c:strCache>
                <c:ptCount val="9"/>
                <c:pt idx="0">
                  <c:v>Large selection of cheeses</c:v>
                </c:pt>
                <c:pt idx="1">
                  <c:v>Imported cheeses are available</c:v>
                </c:pt>
                <c:pt idx="2">
                  <c:v>Domestic cheeses are available</c:v>
                </c:pt>
                <c:pt idx="3">
                  <c:v>Gourmet cheeses are available</c:v>
                </c:pt>
                <c:pt idx="4">
                  <c:v>Weekly special offers</c:v>
                </c:pt>
                <c:pt idx="5">
                  <c:v>Cleanliness of facility</c:v>
                </c:pt>
                <c:pt idx="6">
                  <c:v>Friendliness of staff</c:v>
                </c:pt>
                <c:pt idx="7">
                  <c:v>Reasonable prices</c:v>
                </c:pt>
                <c:pt idx="8">
                  <c:v>Good location</c:v>
                </c:pt>
              </c:strCache>
            </c:strRef>
          </c:cat>
          <c:val>
            <c:numRef>
              <c:f>'Q,2'!$C$41:$C$49</c:f>
              <c:numCache>
                <c:formatCode>0.0</c:formatCode>
                <c:ptCount val="9"/>
                <c:pt idx="0">
                  <c:v>4</c:v>
                </c:pt>
                <c:pt idx="1">
                  <c:v>3</c:v>
                </c:pt>
                <c:pt idx="2">
                  <c:v>4</c:v>
                </c:pt>
                <c:pt idx="3">
                  <c:v>4</c:v>
                </c:pt>
                <c:pt idx="4">
                  <c:v>4</c:v>
                </c:pt>
                <c:pt idx="5">
                  <c:v>5</c:v>
                </c:pt>
                <c:pt idx="6">
                  <c:v>5</c:v>
                </c:pt>
                <c:pt idx="7">
                  <c:v>2</c:v>
                </c:pt>
                <c:pt idx="8">
                  <c:v>5</c:v>
                </c:pt>
              </c:numCache>
            </c:numRef>
          </c:val>
          <c:extLst>
            <c:ext xmlns:c16="http://schemas.microsoft.com/office/drawing/2014/chart" uri="{C3380CC4-5D6E-409C-BE32-E72D297353CC}">
              <c16:uniqueId val="{00000000-B91E-4EED-A55A-3403A2B351D1}"/>
            </c:ext>
          </c:extLst>
        </c:ser>
        <c:ser>
          <c:idx val="1"/>
          <c:order val="1"/>
          <c:tx>
            <c:strRef>
              <c:f>'Q,2'!$D$40</c:f>
              <c:strCache>
                <c:ptCount val="1"/>
                <c:pt idx="0">
                  <c:v>20–30</c:v>
                </c:pt>
              </c:strCache>
            </c:strRef>
          </c:tx>
          <c:spPr>
            <a:solidFill>
              <a:schemeClr val="accent3">
                <a:lumMod val="75000"/>
              </a:schemeClr>
            </a:solidFill>
            <a:ln>
              <a:noFill/>
            </a:ln>
            <a:effectLst>
              <a:outerShdw blurRad="57150" dist="19050" dir="5400000" algn="ctr" rotWithShape="0">
                <a:srgbClr val="000000">
                  <a:alpha val="63000"/>
                </a:srgbClr>
              </a:outerShdw>
            </a:effectLst>
          </c:spPr>
          <c:invertIfNegative val="0"/>
          <c:cat>
            <c:strRef>
              <c:f>'Q,2'!$B$41:$B$49</c:f>
              <c:strCache>
                <c:ptCount val="9"/>
                <c:pt idx="0">
                  <c:v>Large selection of cheeses</c:v>
                </c:pt>
                <c:pt idx="1">
                  <c:v>Imported cheeses are available</c:v>
                </c:pt>
                <c:pt idx="2">
                  <c:v>Domestic cheeses are available</c:v>
                </c:pt>
                <c:pt idx="3">
                  <c:v>Gourmet cheeses are available</c:v>
                </c:pt>
                <c:pt idx="4">
                  <c:v>Weekly special offers</c:v>
                </c:pt>
                <c:pt idx="5">
                  <c:v>Cleanliness of facility</c:v>
                </c:pt>
                <c:pt idx="6">
                  <c:v>Friendliness of staff</c:v>
                </c:pt>
                <c:pt idx="7">
                  <c:v>Reasonable prices</c:v>
                </c:pt>
                <c:pt idx="8">
                  <c:v>Good location</c:v>
                </c:pt>
              </c:strCache>
            </c:strRef>
          </c:cat>
          <c:val>
            <c:numRef>
              <c:f>'Q,2'!$D$41:$D$49</c:f>
              <c:numCache>
                <c:formatCode>0.0</c:formatCode>
                <c:ptCount val="9"/>
                <c:pt idx="0">
                  <c:v>3</c:v>
                </c:pt>
                <c:pt idx="1">
                  <c:v>2</c:v>
                </c:pt>
                <c:pt idx="2">
                  <c:v>4</c:v>
                </c:pt>
                <c:pt idx="3">
                  <c:v>5</c:v>
                </c:pt>
                <c:pt idx="4">
                  <c:v>4.5</c:v>
                </c:pt>
                <c:pt idx="5">
                  <c:v>5</c:v>
                </c:pt>
                <c:pt idx="6">
                  <c:v>5</c:v>
                </c:pt>
                <c:pt idx="7">
                  <c:v>3.5</c:v>
                </c:pt>
                <c:pt idx="8">
                  <c:v>5</c:v>
                </c:pt>
              </c:numCache>
            </c:numRef>
          </c:val>
          <c:extLst>
            <c:ext xmlns:c16="http://schemas.microsoft.com/office/drawing/2014/chart" uri="{C3380CC4-5D6E-409C-BE32-E72D297353CC}">
              <c16:uniqueId val="{00000001-B91E-4EED-A55A-3403A2B351D1}"/>
            </c:ext>
          </c:extLst>
        </c:ser>
        <c:ser>
          <c:idx val="2"/>
          <c:order val="2"/>
          <c:tx>
            <c:strRef>
              <c:f>'Q,2'!$E$40</c:f>
              <c:strCache>
                <c:ptCount val="1"/>
                <c:pt idx="0">
                  <c:v>31–40</c:v>
                </c:pt>
              </c:strCache>
            </c:strRef>
          </c:tx>
          <c:spPr>
            <a:solidFill>
              <a:srgbClr val="B62C07"/>
            </a:solidFill>
            <a:ln>
              <a:noFill/>
            </a:ln>
            <a:effectLst>
              <a:outerShdw blurRad="57150" dist="19050" dir="5400000" algn="ctr" rotWithShape="0">
                <a:srgbClr val="000000">
                  <a:alpha val="63000"/>
                </a:srgbClr>
              </a:outerShdw>
            </a:effectLst>
          </c:spPr>
          <c:invertIfNegative val="0"/>
          <c:cat>
            <c:strRef>
              <c:f>'Q,2'!$B$41:$B$49</c:f>
              <c:strCache>
                <c:ptCount val="9"/>
                <c:pt idx="0">
                  <c:v>Large selection of cheeses</c:v>
                </c:pt>
                <c:pt idx="1">
                  <c:v>Imported cheeses are available</c:v>
                </c:pt>
                <c:pt idx="2">
                  <c:v>Domestic cheeses are available</c:v>
                </c:pt>
                <c:pt idx="3">
                  <c:v>Gourmet cheeses are available</c:v>
                </c:pt>
                <c:pt idx="4">
                  <c:v>Weekly special offers</c:v>
                </c:pt>
                <c:pt idx="5">
                  <c:v>Cleanliness of facility</c:v>
                </c:pt>
                <c:pt idx="6">
                  <c:v>Friendliness of staff</c:v>
                </c:pt>
                <c:pt idx="7">
                  <c:v>Reasonable prices</c:v>
                </c:pt>
                <c:pt idx="8">
                  <c:v>Good location</c:v>
                </c:pt>
              </c:strCache>
            </c:strRef>
          </c:cat>
          <c:val>
            <c:numRef>
              <c:f>'Q,2'!$E$41:$E$49</c:f>
              <c:numCache>
                <c:formatCode>0.0</c:formatCode>
                <c:ptCount val="9"/>
                <c:pt idx="0">
                  <c:v>2</c:v>
                </c:pt>
                <c:pt idx="1">
                  <c:v>1</c:v>
                </c:pt>
                <c:pt idx="2">
                  <c:v>5</c:v>
                </c:pt>
                <c:pt idx="3">
                  <c:v>4.5</c:v>
                </c:pt>
                <c:pt idx="4">
                  <c:v>5</c:v>
                </c:pt>
                <c:pt idx="5">
                  <c:v>5</c:v>
                </c:pt>
                <c:pt idx="6">
                  <c:v>5</c:v>
                </c:pt>
                <c:pt idx="7">
                  <c:v>4</c:v>
                </c:pt>
                <c:pt idx="8">
                  <c:v>5</c:v>
                </c:pt>
              </c:numCache>
            </c:numRef>
          </c:val>
          <c:extLst>
            <c:ext xmlns:c16="http://schemas.microsoft.com/office/drawing/2014/chart" uri="{C3380CC4-5D6E-409C-BE32-E72D297353CC}">
              <c16:uniqueId val="{00000002-B91E-4EED-A55A-3403A2B351D1}"/>
            </c:ext>
          </c:extLst>
        </c:ser>
        <c:ser>
          <c:idx val="3"/>
          <c:order val="3"/>
          <c:tx>
            <c:strRef>
              <c:f>'Q,2'!$F$40</c:f>
              <c:strCache>
                <c:ptCount val="1"/>
                <c:pt idx="0">
                  <c:v>41–50</c:v>
                </c:pt>
              </c:strCache>
            </c:strRef>
          </c:tx>
          <c:spPr>
            <a:gradFill rotWithShape="1">
              <a:gsLst>
                <a:gs pos="0">
                  <a:schemeClr val="accent1">
                    <a:shade val="90000"/>
                    <a:tint val="94000"/>
                    <a:satMod val="103000"/>
                    <a:lumMod val="102000"/>
                  </a:schemeClr>
                </a:gs>
                <a:gs pos="50000">
                  <a:schemeClr val="accent1">
                    <a:shade val="90000"/>
                    <a:shade val="100000"/>
                    <a:satMod val="110000"/>
                    <a:lumMod val="100000"/>
                  </a:schemeClr>
                </a:gs>
                <a:gs pos="100000">
                  <a:schemeClr val="accent1">
                    <a:shade val="90000"/>
                    <a:shade val="78000"/>
                    <a:satMod val="120000"/>
                    <a:lumMod val="99000"/>
                  </a:schemeClr>
                </a:gs>
              </a:gsLst>
              <a:lin ang="5400000" scaled="0"/>
            </a:gradFill>
            <a:ln>
              <a:noFill/>
            </a:ln>
            <a:effectLst>
              <a:outerShdw blurRad="57150" dist="19050" dir="5400000" algn="ctr" rotWithShape="0">
                <a:srgbClr val="000000">
                  <a:alpha val="63000"/>
                </a:srgbClr>
              </a:outerShdw>
            </a:effectLst>
          </c:spPr>
          <c:invertIfNegative val="0"/>
          <c:cat>
            <c:strRef>
              <c:f>'Q,2'!$B$41:$B$49</c:f>
              <c:strCache>
                <c:ptCount val="9"/>
                <c:pt idx="0">
                  <c:v>Large selection of cheeses</c:v>
                </c:pt>
                <c:pt idx="1">
                  <c:v>Imported cheeses are available</c:v>
                </c:pt>
                <c:pt idx="2">
                  <c:v>Domestic cheeses are available</c:v>
                </c:pt>
                <c:pt idx="3">
                  <c:v>Gourmet cheeses are available</c:v>
                </c:pt>
                <c:pt idx="4">
                  <c:v>Weekly special offers</c:v>
                </c:pt>
                <c:pt idx="5">
                  <c:v>Cleanliness of facility</c:v>
                </c:pt>
                <c:pt idx="6">
                  <c:v>Friendliness of staff</c:v>
                </c:pt>
                <c:pt idx="7">
                  <c:v>Reasonable prices</c:v>
                </c:pt>
                <c:pt idx="8">
                  <c:v>Good location</c:v>
                </c:pt>
              </c:strCache>
            </c:strRef>
          </c:cat>
          <c:val>
            <c:numRef>
              <c:f>'Q,2'!$F$41:$F$49</c:f>
              <c:numCache>
                <c:formatCode>0.0</c:formatCode>
                <c:ptCount val="9"/>
                <c:pt idx="0">
                  <c:v>1</c:v>
                </c:pt>
                <c:pt idx="1">
                  <c:v>2</c:v>
                </c:pt>
                <c:pt idx="2">
                  <c:v>4.5</c:v>
                </c:pt>
                <c:pt idx="3">
                  <c:v>5</c:v>
                </c:pt>
                <c:pt idx="4">
                  <c:v>4.5</c:v>
                </c:pt>
                <c:pt idx="5">
                  <c:v>4</c:v>
                </c:pt>
                <c:pt idx="6">
                  <c:v>4</c:v>
                </c:pt>
                <c:pt idx="7">
                  <c:v>3</c:v>
                </c:pt>
                <c:pt idx="8">
                  <c:v>5</c:v>
                </c:pt>
              </c:numCache>
            </c:numRef>
          </c:val>
          <c:extLst>
            <c:ext xmlns:c16="http://schemas.microsoft.com/office/drawing/2014/chart" uri="{C3380CC4-5D6E-409C-BE32-E72D297353CC}">
              <c16:uniqueId val="{00000003-B91E-4EED-A55A-3403A2B351D1}"/>
            </c:ext>
          </c:extLst>
        </c:ser>
        <c:ser>
          <c:idx val="4"/>
          <c:order val="4"/>
          <c:tx>
            <c:strRef>
              <c:f>'Q,2'!$G$40</c:f>
              <c:strCache>
                <c:ptCount val="1"/>
                <c:pt idx="0">
                  <c:v>51–60</c:v>
                </c:pt>
              </c:strCache>
            </c:strRef>
          </c:tx>
          <c:spPr>
            <a:gradFill rotWithShape="1">
              <a:gsLst>
                <a:gs pos="0">
                  <a:schemeClr val="accent1">
                    <a:shade val="70000"/>
                    <a:tint val="94000"/>
                    <a:satMod val="103000"/>
                    <a:lumMod val="102000"/>
                  </a:schemeClr>
                </a:gs>
                <a:gs pos="50000">
                  <a:schemeClr val="accent1">
                    <a:shade val="70000"/>
                    <a:shade val="100000"/>
                    <a:satMod val="110000"/>
                    <a:lumMod val="100000"/>
                  </a:schemeClr>
                </a:gs>
                <a:gs pos="100000">
                  <a:schemeClr val="accent1">
                    <a:shade val="70000"/>
                    <a:shade val="78000"/>
                    <a:satMod val="120000"/>
                    <a:lumMod val="99000"/>
                  </a:schemeClr>
                </a:gs>
              </a:gsLst>
              <a:lin ang="5400000" scaled="0"/>
            </a:gradFill>
            <a:ln>
              <a:noFill/>
            </a:ln>
            <a:effectLst>
              <a:outerShdw blurRad="57150" dist="19050" dir="5400000" algn="ctr" rotWithShape="0">
                <a:srgbClr val="000000">
                  <a:alpha val="63000"/>
                </a:srgbClr>
              </a:outerShdw>
            </a:effectLst>
          </c:spPr>
          <c:invertIfNegative val="0"/>
          <c:cat>
            <c:strRef>
              <c:f>'Q,2'!$B$41:$B$49</c:f>
              <c:strCache>
                <c:ptCount val="9"/>
                <c:pt idx="0">
                  <c:v>Large selection of cheeses</c:v>
                </c:pt>
                <c:pt idx="1">
                  <c:v>Imported cheeses are available</c:v>
                </c:pt>
                <c:pt idx="2">
                  <c:v>Domestic cheeses are available</c:v>
                </c:pt>
                <c:pt idx="3">
                  <c:v>Gourmet cheeses are available</c:v>
                </c:pt>
                <c:pt idx="4">
                  <c:v>Weekly special offers</c:v>
                </c:pt>
                <c:pt idx="5">
                  <c:v>Cleanliness of facility</c:v>
                </c:pt>
                <c:pt idx="6">
                  <c:v>Friendliness of staff</c:v>
                </c:pt>
                <c:pt idx="7">
                  <c:v>Reasonable prices</c:v>
                </c:pt>
                <c:pt idx="8">
                  <c:v>Good location</c:v>
                </c:pt>
              </c:strCache>
            </c:strRef>
          </c:cat>
          <c:val>
            <c:numRef>
              <c:f>'Q,2'!$G$41:$G$49</c:f>
              <c:numCache>
                <c:formatCode>0.0</c:formatCode>
                <c:ptCount val="9"/>
                <c:pt idx="0">
                  <c:v>2</c:v>
                </c:pt>
                <c:pt idx="1">
                  <c:v>2</c:v>
                </c:pt>
                <c:pt idx="2">
                  <c:v>5</c:v>
                </c:pt>
                <c:pt idx="3">
                  <c:v>4.5</c:v>
                </c:pt>
                <c:pt idx="4">
                  <c:v>4</c:v>
                </c:pt>
                <c:pt idx="5">
                  <c:v>4</c:v>
                </c:pt>
                <c:pt idx="6">
                  <c:v>4</c:v>
                </c:pt>
                <c:pt idx="7">
                  <c:v>2.5</c:v>
                </c:pt>
                <c:pt idx="8">
                  <c:v>3</c:v>
                </c:pt>
              </c:numCache>
            </c:numRef>
          </c:val>
          <c:extLst>
            <c:ext xmlns:c16="http://schemas.microsoft.com/office/drawing/2014/chart" uri="{C3380CC4-5D6E-409C-BE32-E72D297353CC}">
              <c16:uniqueId val="{00000004-B91E-4EED-A55A-3403A2B351D1}"/>
            </c:ext>
          </c:extLst>
        </c:ser>
        <c:ser>
          <c:idx val="5"/>
          <c:order val="5"/>
          <c:tx>
            <c:strRef>
              <c:f>'Q,2'!$H$40</c:f>
              <c:strCache>
                <c:ptCount val="1"/>
                <c:pt idx="0">
                  <c:v>&gt; 60</c:v>
                </c:pt>
              </c:strCache>
            </c:strRef>
          </c:tx>
          <c:spPr>
            <a:gradFill rotWithShape="1">
              <a:gsLst>
                <a:gs pos="0">
                  <a:schemeClr val="accent1">
                    <a:shade val="50000"/>
                    <a:tint val="94000"/>
                    <a:satMod val="103000"/>
                    <a:lumMod val="102000"/>
                  </a:schemeClr>
                </a:gs>
                <a:gs pos="50000">
                  <a:schemeClr val="accent1">
                    <a:shade val="50000"/>
                    <a:shade val="100000"/>
                    <a:satMod val="110000"/>
                    <a:lumMod val="100000"/>
                  </a:schemeClr>
                </a:gs>
                <a:gs pos="100000">
                  <a:schemeClr val="accent1">
                    <a:shade val="50000"/>
                    <a:shade val="78000"/>
                    <a:satMod val="120000"/>
                    <a:lumMod val="99000"/>
                  </a:schemeClr>
                </a:gs>
              </a:gsLst>
              <a:lin ang="5400000" scaled="0"/>
            </a:gradFill>
            <a:ln>
              <a:noFill/>
            </a:ln>
            <a:effectLst>
              <a:outerShdw blurRad="57150" dist="19050" dir="5400000" algn="ctr" rotWithShape="0">
                <a:srgbClr val="000000">
                  <a:alpha val="63000"/>
                </a:srgbClr>
              </a:outerShdw>
            </a:effectLst>
          </c:spPr>
          <c:invertIfNegative val="0"/>
          <c:cat>
            <c:strRef>
              <c:f>'Q,2'!$B$41:$B$49</c:f>
              <c:strCache>
                <c:ptCount val="9"/>
                <c:pt idx="0">
                  <c:v>Large selection of cheeses</c:v>
                </c:pt>
                <c:pt idx="1">
                  <c:v>Imported cheeses are available</c:v>
                </c:pt>
                <c:pt idx="2">
                  <c:v>Domestic cheeses are available</c:v>
                </c:pt>
                <c:pt idx="3">
                  <c:v>Gourmet cheeses are available</c:v>
                </c:pt>
                <c:pt idx="4">
                  <c:v>Weekly special offers</c:v>
                </c:pt>
                <c:pt idx="5">
                  <c:v>Cleanliness of facility</c:v>
                </c:pt>
                <c:pt idx="6">
                  <c:v>Friendliness of staff</c:v>
                </c:pt>
                <c:pt idx="7">
                  <c:v>Reasonable prices</c:v>
                </c:pt>
                <c:pt idx="8">
                  <c:v>Good location</c:v>
                </c:pt>
              </c:strCache>
            </c:strRef>
          </c:cat>
          <c:val>
            <c:numRef>
              <c:f>'Q,2'!$H$41:$H$49</c:f>
              <c:numCache>
                <c:formatCode>0.0</c:formatCode>
                <c:ptCount val="9"/>
                <c:pt idx="0">
                  <c:v>3</c:v>
                </c:pt>
                <c:pt idx="1">
                  <c:v>2</c:v>
                </c:pt>
                <c:pt idx="2">
                  <c:v>4.5</c:v>
                </c:pt>
                <c:pt idx="3">
                  <c:v>4</c:v>
                </c:pt>
                <c:pt idx="4">
                  <c:v>5</c:v>
                </c:pt>
                <c:pt idx="5">
                  <c:v>4</c:v>
                </c:pt>
                <c:pt idx="6">
                  <c:v>4</c:v>
                </c:pt>
                <c:pt idx="7">
                  <c:v>3</c:v>
                </c:pt>
                <c:pt idx="8">
                  <c:v>4</c:v>
                </c:pt>
              </c:numCache>
            </c:numRef>
          </c:val>
          <c:extLst>
            <c:ext xmlns:c16="http://schemas.microsoft.com/office/drawing/2014/chart" uri="{C3380CC4-5D6E-409C-BE32-E72D297353CC}">
              <c16:uniqueId val="{00000005-B91E-4EED-A55A-3403A2B351D1}"/>
            </c:ext>
          </c:extLst>
        </c:ser>
        <c:dLbls>
          <c:showLegendKey val="0"/>
          <c:showVal val="0"/>
          <c:showCatName val="0"/>
          <c:showSerName val="0"/>
          <c:showPercent val="0"/>
          <c:showBubbleSize val="0"/>
        </c:dLbls>
        <c:gapWidth val="100"/>
        <c:overlap val="-24"/>
        <c:axId val="604828175"/>
        <c:axId val="604829615"/>
      </c:barChart>
      <c:catAx>
        <c:axId val="604828175"/>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604829615"/>
        <c:crosses val="autoZero"/>
        <c:auto val="1"/>
        <c:lblAlgn val="ctr"/>
        <c:lblOffset val="100"/>
        <c:noMultiLvlLbl val="0"/>
      </c:catAx>
      <c:valAx>
        <c:axId val="604829615"/>
        <c:scaling>
          <c:orientation val="minMax"/>
        </c:scaling>
        <c:delete val="0"/>
        <c:axPos val="l"/>
        <c:majorGridlines>
          <c:spPr>
            <a:ln w="9525" cap="flat" cmpd="sng" algn="ctr">
              <a:solidFill>
                <a:schemeClr val="lt1">
                  <a:lumMod val="95000"/>
                  <a:alpha val="10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6048281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Overall Satisfaction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 Respondents</c:v>
                </c:pt>
              </c:strCache>
            </c:strRef>
          </c:tx>
          <c:spPr>
            <a:solidFill>
              <a:schemeClr val="accent1"/>
            </a:solidFill>
            <a:ln>
              <a:noFill/>
            </a:ln>
            <a:effectLst/>
          </c:spPr>
          <c:invertIfNegative val="0"/>
          <c:cat>
            <c:strRef>
              <c:f>Sheet1!$A$2:$A$10</c:f>
              <c:strCache>
                <c:ptCount val="9"/>
                <c:pt idx="0">
                  <c:v>Large selection of cheeses</c:v>
                </c:pt>
                <c:pt idx="1">
                  <c:v>Imported cheeses are available</c:v>
                </c:pt>
                <c:pt idx="2">
                  <c:v>Domestic cheeses are available</c:v>
                </c:pt>
                <c:pt idx="3">
                  <c:v>Gourmet cheeses are available</c:v>
                </c:pt>
                <c:pt idx="4">
                  <c:v>Weekly special offers</c:v>
                </c:pt>
                <c:pt idx="5">
                  <c:v>Cleanliness of facility</c:v>
                </c:pt>
                <c:pt idx="6">
                  <c:v>Friendliness of staff</c:v>
                </c:pt>
                <c:pt idx="7">
                  <c:v>Reasonable prices</c:v>
                </c:pt>
                <c:pt idx="8">
                  <c:v>Good location</c:v>
                </c:pt>
              </c:strCache>
            </c:strRef>
          </c:cat>
          <c:val>
            <c:numRef>
              <c:f>Sheet1!$B$2:$B$10</c:f>
              <c:numCache>
                <c:formatCode>0.0</c:formatCode>
                <c:ptCount val="9"/>
                <c:pt idx="0">
                  <c:v>2.5</c:v>
                </c:pt>
                <c:pt idx="1">
                  <c:v>2</c:v>
                </c:pt>
                <c:pt idx="2">
                  <c:v>4.5</c:v>
                </c:pt>
                <c:pt idx="3">
                  <c:v>4</c:v>
                </c:pt>
                <c:pt idx="4">
                  <c:v>4.5</c:v>
                </c:pt>
                <c:pt idx="5">
                  <c:v>4.5</c:v>
                </c:pt>
                <c:pt idx="6">
                  <c:v>4.5</c:v>
                </c:pt>
                <c:pt idx="7">
                  <c:v>3</c:v>
                </c:pt>
                <c:pt idx="8">
                  <c:v>4.5</c:v>
                </c:pt>
              </c:numCache>
            </c:numRef>
          </c:val>
          <c:extLst>
            <c:ext xmlns:c16="http://schemas.microsoft.com/office/drawing/2014/chart" uri="{C3380CC4-5D6E-409C-BE32-E72D297353CC}">
              <c16:uniqueId val="{00000000-51D6-40CB-A581-0624171D40D2}"/>
            </c:ext>
          </c:extLst>
        </c:ser>
        <c:dLbls>
          <c:showLegendKey val="0"/>
          <c:showVal val="0"/>
          <c:showCatName val="0"/>
          <c:showSerName val="0"/>
          <c:showPercent val="0"/>
          <c:showBubbleSize val="0"/>
        </c:dLbls>
        <c:gapWidth val="219"/>
        <c:overlap val="-27"/>
        <c:axId val="107676688"/>
        <c:axId val="107677168"/>
      </c:barChart>
      <c:catAx>
        <c:axId val="107676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7677168"/>
        <c:crosses val="autoZero"/>
        <c:auto val="1"/>
        <c:lblAlgn val="ctr"/>
        <c:lblOffset val="100"/>
        <c:noMultiLvlLbl val="0"/>
      </c:catAx>
      <c:valAx>
        <c:axId val="107677168"/>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76766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1">
  <a:schemeClr val="accent1"/>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60E440-ED8D-4CD9-84AE-58739248C922}" type="doc">
      <dgm:prSet loTypeId="urn:microsoft.com/office/officeart/2005/8/layout/list1" loCatId="list" qsTypeId="urn:microsoft.com/office/officeart/2005/8/quickstyle/simple4" qsCatId="simple" csTypeId="urn:microsoft.com/office/officeart/2005/8/colors/accent6_4" csCatId="accent6" phldr="1"/>
      <dgm:spPr/>
      <dgm:t>
        <a:bodyPr/>
        <a:lstStyle/>
        <a:p>
          <a:endParaRPr lang="en-US"/>
        </a:p>
      </dgm:t>
    </dgm:pt>
    <dgm:pt modelId="{43DFA4FC-108A-46A4-9C1F-F315EBDD2233}">
      <dgm:prSet/>
      <dgm:spPr>
        <a:solidFill>
          <a:schemeClr val="bg2">
            <a:lumMod val="50000"/>
          </a:schemeClr>
        </a:solidFill>
        <a:ln>
          <a:solidFill>
            <a:schemeClr val="bg2">
              <a:lumMod val="50000"/>
            </a:schemeClr>
          </a:solidFill>
        </a:ln>
      </dgm:spPr>
      <dgm:t>
        <a:bodyPr/>
        <a:lstStyle/>
        <a:p>
          <a:pPr algn="ctr"/>
          <a:r>
            <a:rPr lang="en-US" dirty="0">
              <a:latin typeface="+mn-lt"/>
            </a:rPr>
            <a:t>Purpose:</a:t>
          </a:r>
        </a:p>
      </dgm:t>
    </dgm:pt>
    <dgm:pt modelId="{674F45EF-DEC2-4606-9E32-93DA020266F2}" type="parTrans" cxnId="{22DB4C41-0CD5-43FF-B336-CE072FE70CF3}">
      <dgm:prSet/>
      <dgm:spPr/>
      <dgm:t>
        <a:bodyPr/>
        <a:lstStyle/>
        <a:p>
          <a:endParaRPr lang="en-US">
            <a:latin typeface="+mn-lt"/>
          </a:endParaRPr>
        </a:p>
      </dgm:t>
    </dgm:pt>
    <dgm:pt modelId="{87A738EC-BEBF-4EE5-BEAA-6DB99AC68C96}" type="sibTrans" cxnId="{22DB4C41-0CD5-43FF-B336-CE072FE70CF3}">
      <dgm:prSet/>
      <dgm:spPr/>
      <dgm:t>
        <a:bodyPr/>
        <a:lstStyle/>
        <a:p>
          <a:endParaRPr lang="en-US">
            <a:latin typeface="+mn-lt"/>
          </a:endParaRPr>
        </a:p>
      </dgm:t>
    </dgm:pt>
    <dgm:pt modelId="{6C3D3D2B-7F3D-4BB6-A912-EF616558CAA9}">
      <dgm:prSet/>
      <dgm:spPr>
        <a:solidFill>
          <a:schemeClr val="bg2">
            <a:lumMod val="75000"/>
          </a:schemeClr>
        </a:solidFill>
      </dgm:spPr>
      <dgm:t>
        <a:bodyPr/>
        <a:lstStyle/>
        <a:p>
          <a:pPr algn="ctr"/>
          <a:r>
            <a:rPr lang="en-US" dirty="0">
              <a:latin typeface="+mn-lt"/>
            </a:rPr>
            <a:t>Methodology:</a:t>
          </a:r>
        </a:p>
      </dgm:t>
    </dgm:pt>
    <dgm:pt modelId="{924999A7-5076-4952-8236-F5C834654CD8}" type="parTrans" cxnId="{9DE45E4A-4B60-428E-BA76-76AB175D2D73}">
      <dgm:prSet/>
      <dgm:spPr/>
      <dgm:t>
        <a:bodyPr/>
        <a:lstStyle/>
        <a:p>
          <a:endParaRPr lang="en-US">
            <a:latin typeface="+mn-lt"/>
          </a:endParaRPr>
        </a:p>
      </dgm:t>
    </dgm:pt>
    <dgm:pt modelId="{AD271392-0ED1-480F-BACF-3AAD2F778561}" type="sibTrans" cxnId="{9DE45E4A-4B60-428E-BA76-76AB175D2D73}">
      <dgm:prSet/>
      <dgm:spPr/>
      <dgm:t>
        <a:bodyPr/>
        <a:lstStyle/>
        <a:p>
          <a:endParaRPr lang="en-US">
            <a:latin typeface="+mn-lt"/>
          </a:endParaRPr>
        </a:p>
      </dgm:t>
    </dgm:pt>
    <dgm:pt modelId="{9A599BCD-EB75-4897-B6CF-49003AA6E72C}">
      <dgm:prSet/>
      <dgm:spPr/>
      <dgm:t>
        <a:bodyPr/>
        <a:lstStyle/>
        <a:p>
          <a:pPr algn="ctr"/>
          <a:r>
            <a:rPr lang="en-US" dirty="0">
              <a:latin typeface="+mn-lt"/>
            </a:rPr>
            <a:t>Qualitative Insights: </a:t>
          </a:r>
        </a:p>
      </dgm:t>
    </dgm:pt>
    <dgm:pt modelId="{7DCF003C-CF43-4F9D-864B-9FC7B8B9C3E1}" type="parTrans" cxnId="{B540BC61-5D2D-4533-B7AD-CC3C46F9B5B5}">
      <dgm:prSet/>
      <dgm:spPr/>
      <dgm:t>
        <a:bodyPr/>
        <a:lstStyle/>
        <a:p>
          <a:endParaRPr lang="en-US">
            <a:latin typeface="+mn-lt"/>
          </a:endParaRPr>
        </a:p>
      </dgm:t>
    </dgm:pt>
    <dgm:pt modelId="{8FB32131-895C-4303-BD4D-C208C0A040C1}" type="sibTrans" cxnId="{B540BC61-5D2D-4533-B7AD-CC3C46F9B5B5}">
      <dgm:prSet/>
      <dgm:spPr/>
      <dgm:t>
        <a:bodyPr/>
        <a:lstStyle/>
        <a:p>
          <a:endParaRPr lang="en-US">
            <a:latin typeface="+mn-lt"/>
          </a:endParaRPr>
        </a:p>
      </dgm:t>
    </dgm:pt>
    <dgm:pt modelId="{DED15FEF-5539-4367-8C2C-B47DC5E2BF30}">
      <dgm:prSet/>
      <dgm:spPr/>
      <dgm:t>
        <a:bodyPr/>
        <a:lstStyle/>
        <a:p>
          <a:r>
            <a:rPr lang="en-US" dirty="0">
              <a:latin typeface="+mn-lt"/>
            </a:rPr>
            <a:t>Overall experience: atmosphere; knowledgeable staff</a:t>
          </a:r>
        </a:p>
      </dgm:t>
    </dgm:pt>
    <dgm:pt modelId="{28504B20-6CDB-4F88-89DB-E20AD879ABB4}" type="parTrans" cxnId="{38739007-BDBD-41CE-ACDB-5B1C4AC2904D}">
      <dgm:prSet/>
      <dgm:spPr/>
      <dgm:t>
        <a:bodyPr/>
        <a:lstStyle/>
        <a:p>
          <a:endParaRPr lang="en-US">
            <a:latin typeface="+mn-lt"/>
          </a:endParaRPr>
        </a:p>
      </dgm:t>
    </dgm:pt>
    <dgm:pt modelId="{4F6692BC-4315-4DDE-A734-4DE4F4F070F1}" type="sibTrans" cxnId="{38739007-BDBD-41CE-ACDB-5B1C4AC2904D}">
      <dgm:prSet/>
      <dgm:spPr/>
      <dgm:t>
        <a:bodyPr/>
        <a:lstStyle/>
        <a:p>
          <a:endParaRPr lang="en-US">
            <a:latin typeface="+mn-lt"/>
          </a:endParaRPr>
        </a:p>
      </dgm:t>
    </dgm:pt>
    <dgm:pt modelId="{AC3CBCC4-1C28-4218-99FF-7037ED014EE0}">
      <dgm:prSet/>
      <dgm:spPr/>
      <dgm:t>
        <a:bodyPr/>
        <a:lstStyle/>
        <a:p>
          <a:r>
            <a:rPr lang="en-US" dirty="0">
              <a:latin typeface="+mn-lt"/>
            </a:rPr>
            <a:t>Diversity and quality of cheeses</a:t>
          </a:r>
        </a:p>
      </dgm:t>
    </dgm:pt>
    <dgm:pt modelId="{A63D20DA-D920-4E84-ACF5-84C0EC9734A6}" type="parTrans" cxnId="{7FD47DD3-1004-4554-8F11-6916C9AC5E2A}">
      <dgm:prSet/>
      <dgm:spPr/>
      <dgm:t>
        <a:bodyPr/>
        <a:lstStyle/>
        <a:p>
          <a:endParaRPr lang="en-US">
            <a:latin typeface="+mn-lt"/>
          </a:endParaRPr>
        </a:p>
      </dgm:t>
    </dgm:pt>
    <dgm:pt modelId="{1551BAE5-3258-4EB6-9451-65B1121E120E}" type="sibTrans" cxnId="{7FD47DD3-1004-4554-8F11-6916C9AC5E2A}">
      <dgm:prSet/>
      <dgm:spPr/>
      <dgm:t>
        <a:bodyPr/>
        <a:lstStyle/>
        <a:p>
          <a:endParaRPr lang="en-US">
            <a:latin typeface="+mn-lt"/>
          </a:endParaRPr>
        </a:p>
      </dgm:t>
    </dgm:pt>
    <dgm:pt modelId="{676EA02C-E1CB-4EE7-9B96-A797BD11689D}">
      <dgm:prSet/>
      <dgm:spPr>
        <a:solidFill>
          <a:schemeClr val="bg2">
            <a:lumMod val="40000"/>
            <a:lumOff val="60000"/>
          </a:schemeClr>
        </a:solidFill>
        <a:ln>
          <a:solidFill>
            <a:schemeClr val="bg2">
              <a:lumMod val="40000"/>
              <a:lumOff val="60000"/>
            </a:schemeClr>
          </a:solidFill>
        </a:ln>
      </dgm:spPr>
      <dgm:t>
        <a:bodyPr/>
        <a:lstStyle/>
        <a:p>
          <a:pPr algn="ctr"/>
          <a:r>
            <a:rPr lang="en-US" dirty="0">
              <a:latin typeface="+mn-lt"/>
            </a:rPr>
            <a:t>Survey Analysis:</a:t>
          </a:r>
        </a:p>
      </dgm:t>
    </dgm:pt>
    <dgm:pt modelId="{49FCC66A-7791-4908-810C-467943EFC378}" type="parTrans" cxnId="{C829785C-9848-4724-A2A0-19DB63E464DF}">
      <dgm:prSet/>
      <dgm:spPr/>
      <dgm:t>
        <a:bodyPr/>
        <a:lstStyle/>
        <a:p>
          <a:endParaRPr lang="en-US">
            <a:latin typeface="+mn-lt"/>
          </a:endParaRPr>
        </a:p>
      </dgm:t>
    </dgm:pt>
    <dgm:pt modelId="{D7262BAD-CAAA-428F-B763-C1FBAC78C6D9}" type="sibTrans" cxnId="{C829785C-9848-4724-A2A0-19DB63E464DF}">
      <dgm:prSet/>
      <dgm:spPr/>
      <dgm:t>
        <a:bodyPr/>
        <a:lstStyle/>
        <a:p>
          <a:endParaRPr lang="en-US">
            <a:latin typeface="+mn-lt"/>
          </a:endParaRPr>
        </a:p>
      </dgm:t>
    </dgm:pt>
    <dgm:pt modelId="{A7085FB3-94B5-47F9-8360-DA1900171F4C}">
      <dgm:prSet/>
      <dgm:spPr/>
      <dgm:t>
        <a:bodyPr/>
        <a:lstStyle/>
        <a:p>
          <a:pPr algn="l"/>
          <a:r>
            <a:rPr lang="en-US" dirty="0">
              <a:latin typeface="+mn-lt"/>
            </a:rPr>
            <a:t>Selection of Cheeses		</a:t>
          </a:r>
          <a:r>
            <a:rPr lang="en-US" dirty="0">
              <a:latin typeface="+mn-lt"/>
              <a:cs typeface="Times New Roman" panose="02020603050405020304" pitchFamily="18" charset="0"/>
            </a:rPr>
            <a:t>• </a:t>
          </a:r>
          <a:r>
            <a:rPr lang="en-US" dirty="0">
              <a:latin typeface="+mn-lt"/>
            </a:rPr>
            <a:t>Overall Satisfaction</a:t>
          </a:r>
        </a:p>
      </dgm:t>
    </dgm:pt>
    <dgm:pt modelId="{393C31A5-F180-4045-9ADB-5704A815BAFC}" type="parTrans" cxnId="{12741F75-A32A-4A07-A851-ECD13E8CF598}">
      <dgm:prSet/>
      <dgm:spPr/>
      <dgm:t>
        <a:bodyPr/>
        <a:lstStyle/>
        <a:p>
          <a:endParaRPr lang="en-US">
            <a:latin typeface="+mn-lt"/>
          </a:endParaRPr>
        </a:p>
      </dgm:t>
    </dgm:pt>
    <dgm:pt modelId="{61A9F2ED-E423-47E2-BB57-11218E039FD2}" type="sibTrans" cxnId="{12741F75-A32A-4A07-A851-ECD13E8CF598}">
      <dgm:prSet/>
      <dgm:spPr/>
      <dgm:t>
        <a:bodyPr/>
        <a:lstStyle/>
        <a:p>
          <a:endParaRPr lang="en-US">
            <a:latin typeface="+mn-lt"/>
          </a:endParaRPr>
        </a:p>
      </dgm:t>
    </dgm:pt>
    <dgm:pt modelId="{AC748693-D513-4B56-9F6D-2840EFAD9C9A}">
      <dgm:prSet/>
      <dgm:spPr/>
      <dgm:t>
        <a:bodyPr/>
        <a:lstStyle/>
        <a:p>
          <a:pPr algn="l">
            <a:tabLst>
              <a:tab pos="1200150" algn="l"/>
              <a:tab pos="1314450" algn="l"/>
              <a:tab pos="1657350" algn="l"/>
            </a:tabLst>
          </a:pPr>
          <a:r>
            <a:rPr lang="en-US" dirty="0">
              <a:latin typeface="+mn-lt"/>
            </a:rPr>
            <a:t>Key Factors:</a:t>
          </a:r>
        </a:p>
      </dgm:t>
    </dgm:pt>
    <dgm:pt modelId="{A2AF82E5-20B7-4537-AAC2-7B78E42929F0}" type="parTrans" cxnId="{DF933C22-39F7-4C04-AD3B-35F380893640}">
      <dgm:prSet/>
      <dgm:spPr/>
      <dgm:t>
        <a:bodyPr/>
        <a:lstStyle/>
        <a:p>
          <a:endParaRPr lang="en-US">
            <a:latin typeface="+mn-lt"/>
          </a:endParaRPr>
        </a:p>
      </dgm:t>
    </dgm:pt>
    <dgm:pt modelId="{B18C4B9B-28C5-47A2-B7C3-2C73A1A8926F}" type="sibTrans" cxnId="{DF933C22-39F7-4C04-AD3B-35F380893640}">
      <dgm:prSet/>
      <dgm:spPr/>
      <dgm:t>
        <a:bodyPr/>
        <a:lstStyle/>
        <a:p>
          <a:endParaRPr lang="en-US">
            <a:latin typeface="+mn-lt"/>
          </a:endParaRPr>
        </a:p>
      </dgm:t>
    </dgm:pt>
    <dgm:pt modelId="{D2721605-B176-4D3A-84A3-6760F0F18BCE}">
      <dgm:prSet/>
      <dgm:spPr/>
      <dgm:t>
        <a:bodyPr/>
        <a:lstStyle/>
        <a:p>
          <a:pPr algn="l"/>
          <a:r>
            <a:rPr lang="en-US" dirty="0">
              <a:latin typeface="+mn-lt"/>
            </a:rPr>
            <a:t>Age</a:t>
          </a:r>
        </a:p>
      </dgm:t>
    </dgm:pt>
    <dgm:pt modelId="{71B693F5-0AC5-4CEC-91BC-C7A618F66D0B}" type="parTrans" cxnId="{E80FD37A-868C-4252-8883-55F8CA616772}">
      <dgm:prSet/>
      <dgm:spPr/>
      <dgm:t>
        <a:bodyPr/>
        <a:lstStyle/>
        <a:p>
          <a:endParaRPr lang="en-US">
            <a:latin typeface="+mn-lt"/>
          </a:endParaRPr>
        </a:p>
      </dgm:t>
    </dgm:pt>
    <dgm:pt modelId="{823E0880-4CD5-435D-9BB4-737E486F1A01}" type="sibTrans" cxnId="{E80FD37A-868C-4252-8883-55F8CA616772}">
      <dgm:prSet/>
      <dgm:spPr/>
      <dgm:t>
        <a:bodyPr/>
        <a:lstStyle/>
        <a:p>
          <a:endParaRPr lang="en-US">
            <a:latin typeface="+mn-lt"/>
          </a:endParaRPr>
        </a:p>
      </dgm:t>
    </dgm:pt>
    <dgm:pt modelId="{522442A7-45DF-4C1B-B6F7-18B76F3E6C24}">
      <dgm:prSet/>
      <dgm:spPr/>
      <dgm:t>
        <a:bodyPr/>
        <a:lstStyle/>
        <a:p>
          <a:pPr algn="l"/>
          <a:r>
            <a:rPr lang="en-US" dirty="0">
              <a:latin typeface="+mn-lt"/>
            </a:rPr>
            <a:t>Gender</a:t>
          </a:r>
        </a:p>
      </dgm:t>
    </dgm:pt>
    <dgm:pt modelId="{423D0AE4-1C88-4D7A-B055-66037EA814CA}" type="parTrans" cxnId="{B10DBB63-1D8C-4E3C-A1ED-1A2F72F681AF}">
      <dgm:prSet/>
      <dgm:spPr/>
      <dgm:t>
        <a:bodyPr/>
        <a:lstStyle/>
        <a:p>
          <a:endParaRPr lang="en-US">
            <a:latin typeface="+mn-lt"/>
          </a:endParaRPr>
        </a:p>
      </dgm:t>
    </dgm:pt>
    <dgm:pt modelId="{8E3C7D19-C68B-4D4E-B39C-3B237114910C}" type="sibTrans" cxnId="{B10DBB63-1D8C-4E3C-A1ED-1A2F72F681AF}">
      <dgm:prSet/>
      <dgm:spPr/>
      <dgm:t>
        <a:bodyPr/>
        <a:lstStyle/>
        <a:p>
          <a:endParaRPr lang="en-US">
            <a:latin typeface="+mn-lt"/>
          </a:endParaRPr>
        </a:p>
      </dgm:t>
    </dgm:pt>
    <dgm:pt modelId="{506E3374-BE58-477A-8CED-916EFDAC0850}">
      <dgm:prSet/>
      <dgm:spPr>
        <a:solidFill>
          <a:schemeClr val="bg2">
            <a:lumMod val="60000"/>
            <a:lumOff val="40000"/>
          </a:schemeClr>
        </a:solidFill>
        <a:ln>
          <a:solidFill>
            <a:schemeClr val="bg2">
              <a:lumMod val="60000"/>
              <a:lumOff val="40000"/>
            </a:schemeClr>
          </a:solidFill>
        </a:ln>
      </dgm:spPr>
      <dgm:t>
        <a:bodyPr/>
        <a:lstStyle/>
        <a:p>
          <a:pPr algn="ctr"/>
          <a:r>
            <a:rPr lang="en-US" dirty="0">
              <a:latin typeface="+mn-lt"/>
            </a:rPr>
            <a:t>Recommendations:</a:t>
          </a:r>
        </a:p>
      </dgm:t>
    </dgm:pt>
    <dgm:pt modelId="{114B246F-F2F9-4A9B-8434-942C28F674E9}" type="parTrans" cxnId="{EA671E9D-53CF-459B-B9A7-773A3647D422}">
      <dgm:prSet/>
      <dgm:spPr/>
      <dgm:t>
        <a:bodyPr/>
        <a:lstStyle/>
        <a:p>
          <a:endParaRPr lang="en-US">
            <a:latin typeface="+mn-lt"/>
          </a:endParaRPr>
        </a:p>
      </dgm:t>
    </dgm:pt>
    <dgm:pt modelId="{F9D0F9F8-FCB8-474A-8BF9-DEA94058D3DB}" type="sibTrans" cxnId="{EA671E9D-53CF-459B-B9A7-773A3647D422}">
      <dgm:prSet/>
      <dgm:spPr/>
      <dgm:t>
        <a:bodyPr/>
        <a:lstStyle/>
        <a:p>
          <a:endParaRPr lang="en-US">
            <a:latin typeface="+mn-lt"/>
          </a:endParaRPr>
        </a:p>
      </dgm:t>
    </dgm:pt>
    <dgm:pt modelId="{B8E0F6AB-3991-4BEB-B757-9A933357D0BB}">
      <dgm:prSet/>
      <dgm:spPr/>
      <dgm:t>
        <a:bodyPr/>
        <a:lstStyle/>
        <a:p>
          <a:pPr>
            <a:lnSpc>
              <a:spcPct val="100000"/>
            </a:lnSpc>
          </a:pPr>
          <a:r>
            <a:rPr lang="en-US" dirty="0">
              <a:latin typeface="+mn-lt"/>
            </a:rPr>
            <a:t>Increase selection of cheeses</a:t>
          </a:r>
        </a:p>
      </dgm:t>
    </dgm:pt>
    <dgm:pt modelId="{BAEC2D21-4D4D-407B-BD86-1D5C03276655}" type="parTrans" cxnId="{0BA345E6-A541-4889-804C-AE3389908326}">
      <dgm:prSet/>
      <dgm:spPr/>
      <dgm:t>
        <a:bodyPr/>
        <a:lstStyle/>
        <a:p>
          <a:endParaRPr lang="en-US">
            <a:latin typeface="+mn-lt"/>
          </a:endParaRPr>
        </a:p>
      </dgm:t>
    </dgm:pt>
    <dgm:pt modelId="{38E3AF5E-DF9D-446E-B5A2-0B3EA3F38B64}" type="sibTrans" cxnId="{0BA345E6-A541-4889-804C-AE3389908326}">
      <dgm:prSet/>
      <dgm:spPr/>
      <dgm:t>
        <a:bodyPr/>
        <a:lstStyle/>
        <a:p>
          <a:endParaRPr lang="en-US">
            <a:latin typeface="+mn-lt"/>
          </a:endParaRPr>
        </a:p>
      </dgm:t>
    </dgm:pt>
    <dgm:pt modelId="{FDE63B64-8DF1-4B4D-9AC3-6BDD17151CF4}">
      <dgm:prSet/>
      <dgm:spPr/>
      <dgm:t>
        <a:bodyPr/>
        <a:lstStyle/>
        <a:p>
          <a:pPr>
            <a:lnSpc>
              <a:spcPct val="100000"/>
            </a:lnSpc>
          </a:pPr>
          <a:r>
            <a:rPr lang="en-US" dirty="0">
              <a:latin typeface="+mn-lt"/>
            </a:rPr>
            <a:t>Price Changes</a:t>
          </a:r>
        </a:p>
      </dgm:t>
    </dgm:pt>
    <dgm:pt modelId="{1DCB9C26-59F2-4CF4-9CE8-5B1277AD8F9A}" type="parTrans" cxnId="{F66D5B15-67BB-47ED-9B1F-DDB9F0D22B5E}">
      <dgm:prSet/>
      <dgm:spPr/>
      <dgm:t>
        <a:bodyPr/>
        <a:lstStyle/>
        <a:p>
          <a:endParaRPr lang="en-US">
            <a:latin typeface="+mn-lt"/>
          </a:endParaRPr>
        </a:p>
      </dgm:t>
    </dgm:pt>
    <dgm:pt modelId="{A4D10A41-A69B-4BBD-94AE-054FF9FCAA23}" type="sibTrans" cxnId="{F66D5B15-67BB-47ED-9B1F-DDB9F0D22B5E}">
      <dgm:prSet/>
      <dgm:spPr/>
      <dgm:t>
        <a:bodyPr/>
        <a:lstStyle/>
        <a:p>
          <a:endParaRPr lang="en-US">
            <a:latin typeface="+mn-lt"/>
          </a:endParaRPr>
        </a:p>
      </dgm:t>
    </dgm:pt>
    <dgm:pt modelId="{07D65D43-DB1A-4071-96C3-E032FF109BE2}">
      <dgm:prSet/>
      <dgm:spPr/>
      <dgm:t>
        <a:bodyPr/>
        <a:lstStyle/>
        <a:p>
          <a:r>
            <a:rPr lang="en-US" dirty="0">
              <a:latin typeface="+mn-lt"/>
            </a:rPr>
            <a:t>Determine customer satisfaction factors</a:t>
          </a:r>
        </a:p>
      </dgm:t>
    </dgm:pt>
    <dgm:pt modelId="{3251C1EF-97D7-46CF-8E5C-6709E254AE0C}" type="parTrans" cxnId="{89F16E08-12A5-4215-B318-419EA7B1BE05}">
      <dgm:prSet/>
      <dgm:spPr/>
      <dgm:t>
        <a:bodyPr/>
        <a:lstStyle/>
        <a:p>
          <a:endParaRPr lang="en-US">
            <a:latin typeface="+mn-lt"/>
          </a:endParaRPr>
        </a:p>
      </dgm:t>
    </dgm:pt>
    <dgm:pt modelId="{986ADA1C-81F1-4730-94EE-62E1B6F40268}" type="sibTrans" cxnId="{89F16E08-12A5-4215-B318-419EA7B1BE05}">
      <dgm:prSet/>
      <dgm:spPr/>
      <dgm:t>
        <a:bodyPr/>
        <a:lstStyle/>
        <a:p>
          <a:endParaRPr lang="en-US">
            <a:latin typeface="+mn-lt"/>
          </a:endParaRPr>
        </a:p>
      </dgm:t>
    </dgm:pt>
    <dgm:pt modelId="{B3EED129-945E-40DE-8E95-AB49B53A56AF}">
      <dgm:prSet/>
      <dgm:spPr/>
      <dgm:t>
        <a:bodyPr/>
        <a:lstStyle/>
        <a:p>
          <a:r>
            <a:rPr lang="en-US" dirty="0">
              <a:latin typeface="+mn-lt"/>
            </a:rPr>
            <a:t>Focus Group &amp; Survey</a:t>
          </a:r>
        </a:p>
      </dgm:t>
    </dgm:pt>
    <dgm:pt modelId="{FD8241FF-A69F-4145-ABD4-D4EE7B441739}" type="parTrans" cxnId="{810A8511-B03A-4A6D-9F9E-025DD0A5C34C}">
      <dgm:prSet/>
      <dgm:spPr/>
      <dgm:t>
        <a:bodyPr/>
        <a:lstStyle/>
        <a:p>
          <a:endParaRPr lang="en-US">
            <a:latin typeface="+mn-lt"/>
          </a:endParaRPr>
        </a:p>
      </dgm:t>
    </dgm:pt>
    <dgm:pt modelId="{1E013E9E-272C-4E93-81E4-F0A4BFB09356}" type="sibTrans" cxnId="{810A8511-B03A-4A6D-9F9E-025DD0A5C34C}">
      <dgm:prSet/>
      <dgm:spPr/>
      <dgm:t>
        <a:bodyPr/>
        <a:lstStyle/>
        <a:p>
          <a:endParaRPr lang="en-US">
            <a:latin typeface="+mn-lt"/>
          </a:endParaRPr>
        </a:p>
      </dgm:t>
    </dgm:pt>
    <dgm:pt modelId="{7870DE44-B7EE-42F1-A058-3CB4EB6D2260}" type="pres">
      <dgm:prSet presAssocID="{DE60E440-ED8D-4CD9-84AE-58739248C922}" presName="linear" presStyleCnt="0">
        <dgm:presLayoutVars>
          <dgm:dir/>
          <dgm:animLvl val="lvl"/>
          <dgm:resizeHandles val="exact"/>
        </dgm:presLayoutVars>
      </dgm:prSet>
      <dgm:spPr/>
    </dgm:pt>
    <dgm:pt modelId="{2156F744-EEA5-490C-A669-9CD4361599F6}" type="pres">
      <dgm:prSet presAssocID="{43DFA4FC-108A-46A4-9C1F-F315EBDD2233}" presName="parentLin" presStyleCnt="0"/>
      <dgm:spPr/>
    </dgm:pt>
    <dgm:pt modelId="{858C8192-4A62-44E4-812F-139418C229C3}" type="pres">
      <dgm:prSet presAssocID="{43DFA4FC-108A-46A4-9C1F-F315EBDD2233}" presName="parentLeftMargin" presStyleLbl="node1" presStyleIdx="0" presStyleCnt="5"/>
      <dgm:spPr/>
    </dgm:pt>
    <dgm:pt modelId="{10DB641A-7AC6-4427-BCE8-18CE1B99114C}" type="pres">
      <dgm:prSet presAssocID="{43DFA4FC-108A-46A4-9C1F-F315EBDD2233}" presName="parentText" presStyleLbl="node1" presStyleIdx="0" presStyleCnt="5">
        <dgm:presLayoutVars>
          <dgm:chMax val="0"/>
          <dgm:bulletEnabled val="1"/>
        </dgm:presLayoutVars>
      </dgm:prSet>
      <dgm:spPr/>
    </dgm:pt>
    <dgm:pt modelId="{37399327-42B6-47F3-8B68-4AE32AD317EF}" type="pres">
      <dgm:prSet presAssocID="{43DFA4FC-108A-46A4-9C1F-F315EBDD2233}" presName="negativeSpace" presStyleCnt="0"/>
      <dgm:spPr/>
    </dgm:pt>
    <dgm:pt modelId="{771943F3-4F67-46D3-8FD8-F2B6F8D40E02}" type="pres">
      <dgm:prSet presAssocID="{43DFA4FC-108A-46A4-9C1F-F315EBDD2233}" presName="childText" presStyleLbl="conFgAcc1" presStyleIdx="0" presStyleCnt="5">
        <dgm:presLayoutVars>
          <dgm:bulletEnabled val="1"/>
        </dgm:presLayoutVars>
      </dgm:prSet>
      <dgm:spPr/>
    </dgm:pt>
    <dgm:pt modelId="{1098F27F-AA57-4EDB-B133-F9C679058D81}" type="pres">
      <dgm:prSet presAssocID="{87A738EC-BEBF-4EE5-BEAA-6DB99AC68C96}" presName="spaceBetweenRectangles" presStyleCnt="0"/>
      <dgm:spPr/>
    </dgm:pt>
    <dgm:pt modelId="{CC9CEAA1-2C6E-4B17-9DFE-A3247A1FC844}" type="pres">
      <dgm:prSet presAssocID="{6C3D3D2B-7F3D-4BB6-A912-EF616558CAA9}" presName="parentLin" presStyleCnt="0"/>
      <dgm:spPr/>
    </dgm:pt>
    <dgm:pt modelId="{067797B6-0DE0-43F1-9980-44CCC09F7AE1}" type="pres">
      <dgm:prSet presAssocID="{6C3D3D2B-7F3D-4BB6-A912-EF616558CAA9}" presName="parentLeftMargin" presStyleLbl="node1" presStyleIdx="0" presStyleCnt="5"/>
      <dgm:spPr/>
    </dgm:pt>
    <dgm:pt modelId="{7397F830-BAA3-4E08-BFDB-19B3DCAF12F4}" type="pres">
      <dgm:prSet presAssocID="{6C3D3D2B-7F3D-4BB6-A912-EF616558CAA9}" presName="parentText" presStyleLbl="node1" presStyleIdx="1" presStyleCnt="5">
        <dgm:presLayoutVars>
          <dgm:chMax val="0"/>
          <dgm:bulletEnabled val="1"/>
        </dgm:presLayoutVars>
      </dgm:prSet>
      <dgm:spPr/>
    </dgm:pt>
    <dgm:pt modelId="{1D9D845D-E980-49A7-9B6F-B21544C0FFB1}" type="pres">
      <dgm:prSet presAssocID="{6C3D3D2B-7F3D-4BB6-A912-EF616558CAA9}" presName="negativeSpace" presStyleCnt="0"/>
      <dgm:spPr/>
    </dgm:pt>
    <dgm:pt modelId="{FE9A586B-C2A5-4C37-8787-7C33E87495DF}" type="pres">
      <dgm:prSet presAssocID="{6C3D3D2B-7F3D-4BB6-A912-EF616558CAA9}" presName="childText" presStyleLbl="conFgAcc1" presStyleIdx="1" presStyleCnt="5">
        <dgm:presLayoutVars>
          <dgm:bulletEnabled val="1"/>
        </dgm:presLayoutVars>
      </dgm:prSet>
      <dgm:spPr/>
    </dgm:pt>
    <dgm:pt modelId="{C310B56F-1816-40EE-BB34-9B87D68AD10E}" type="pres">
      <dgm:prSet presAssocID="{AD271392-0ED1-480F-BACF-3AAD2F778561}" presName="spaceBetweenRectangles" presStyleCnt="0"/>
      <dgm:spPr/>
    </dgm:pt>
    <dgm:pt modelId="{3C5CF894-AEF6-4CA8-A161-77CAA1F223C2}" type="pres">
      <dgm:prSet presAssocID="{9A599BCD-EB75-4897-B6CF-49003AA6E72C}" presName="parentLin" presStyleCnt="0"/>
      <dgm:spPr/>
    </dgm:pt>
    <dgm:pt modelId="{34E3ABEE-C45F-448F-B594-81CB08DA2F9E}" type="pres">
      <dgm:prSet presAssocID="{9A599BCD-EB75-4897-B6CF-49003AA6E72C}" presName="parentLeftMargin" presStyleLbl="node1" presStyleIdx="1" presStyleCnt="5"/>
      <dgm:spPr/>
    </dgm:pt>
    <dgm:pt modelId="{918EE3F2-AC14-4F1C-8B36-A3B0380270B1}" type="pres">
      <dgm:prSet presAssocID="{9A599BCD-EB75-4897-B6CF-49003AA6E72C}" presName="parentText" presStyleLbl="node1" presStyleIdx="2" presStyleCnt="5">
        <dgm:presLayoutVars>
          <dgm:chMax val="0"/>
          <dgm:bulletEnabled val="1"/>
        </dgm:presLayoutVars>
      </dgm:prSet>
      <dgm:spPr/>
    </dgm:pt>
    <dgm:pt modelId="{1526F0C2-4E61-4CF8-8DB7-F49ACF5ACD4C}" type="pres">
      <dgm:prSet presAssocID="{9A599BCD-EB75-4897-B6CF-49003AA6E72C}" presName="negativeSpace" presStyleCnt="0"/>
      <dgm:spPr/>
    </dgm:pt>
    <dgm:pt modelId="{B07A2989-622D-4D48-B249-8C7E273351D1}" type="pres">
      <dgm:prSet presAssocID="{9A599BCD-EB75-4897-B6CF-49003AA6E72C}" presName="childText" presStyleLbl="conFgAcc1" presStyleIdx="2" presStyleCnt="5">
        <dgm:presLayoutVars>
          <dgm:bulletEnabled val="1"/>
        </dgm:presLayoutVars>
      </dgm:prSet>
      <dgm:spPr/>
    </dgm:pt>
    <dgm:pt modelId="{88D27708-F32C-4FF1-9B8D-56FF53903E4C}" type="pres">
      <dgm:prSet presAssocID="{8FB32131-895C-4303-BD4D-C208C0A040C1}" presName="spaceBetweenRectangles" presStyleCnt="0"/>
      <dgm:spPr/>
    </dgm:pt>
    <dgm:pt modelId="{5149F8C6-0C46-471F-875E-99731C428474}" type="pres">
      <dgm:prSet presAssocID="{676EA02C-E1CB-4EE7-9B96-A797BD11689D}" presName="parentLin" presStyleCnt="0"/>
      <dgm:spPr/>
    </dgm:pt>
    <dgm:pt modelId="{6A67C4D9-609B-4A3D-8408-A7C27F11F550}" type="pres">
      <dgm:prSet presAssocID="{676EA02C-E1CB-4EE7-9B96-A797BD11689D}" presName="parentLeftMargin" presStyleLbl="node1" presStyleIdx="2" presStyleCnt="5"/>
      <dgm:spPr/>
    </dgm:pt>
    <dgm:pt modelId="{47D9F50C-29BB-4F73-9E7A-3A3E3B7897A4}" type="pres">
      <dgm:prSet presAssocID="{676EA02C-E1CB-4EE7-9B96-A797BD11689D}" presName="parentText" presStyleLbl="node1" presStyleIdx="3" presStyleCnt="5">
        <dgm:presLayoutVars>
          <dgm:chMax val="0"/>
          <dgm:bulletEnabled val="1"/>
        </dgm:presLayoutVars>
      </dgm:prSet>
      <dgm:spPr/>
    </dgm:pt>
    <dgm:pt modelId="{B2D68B6B-8D85-4E9E-AC8B-83563C1D1367}" type="pres">
      <dgm:prSet presAssocID="{676EA02C-E1CB-4EE7-9B96-A797BD11689D}" presName="negativeSpace" presStyleCnt="0"/>
      <dgm:spPr/>
    </dgm:pt>
    <dgm:pt modelId="{A9CB43E4-71EE-4E1D-BF0B-FF058F52D249}" type="pres">
      <dgm:prSet presAssocID="{676EA02C-E1CB-4EE7-9B96-A797BD11689D}" presName="childText" presStyleLbl="conFgAcc1" presStyleIdx="3" presStyleCnt="5">
        <dgm:presLayoutVars>
          <dgm:bulletEnabled val="1"/>
        </dgm:presLayoutVars>
      </dgm:prSet>
      <dgm:spPr/>
    </dgm:pt>
    <dgm:pt modelId="{475868A8-0F56-4EFB-85A1-91F2A57412D3}" type="pres">
      <dgm:prSet presAssocID="{D7262BAD-CAAA-428F-B763-C1FBAC78C6D9}" presName="spaceBetweenRectangles" presStyleCnt="0"/>
      <dgm:spPr/>
    </dgm:pt>
    <dgm:pt modelId="{0C4BC8DF-E163-4189-B4B0-5D017C8BD6A7}" type="pres">
      <dgm:prSet presAssocID="{506E3374-BE58-477A-8CED-916EFDAC0850}" presName="parentLin" presStyleCnt="0"/>
      <dgm:spPr/>
    </dgm:pt>
    <dgm:pt modelId="{4D249A2C-4530-4CBA-B303-AAA4318288AA}" type="pres">
      <dgm:prSet presAssocID="{506E3374-BE58-477A-8CED-916EFDAC0850}" presName="parentLeftMargin" presStyleLbl="node1" presStyleIdx="3" presStyleCnt="5"/>
      <dgm:spPr/>
    </dgm:pt>
    <dgm:pt modelId="{870C38D5-9163-4E0A-9073-C6A82BC95511}" type="pres">
      <dgm:prSet presAssocID="{506E3374-BE58-477A-8CED-916EFDAC0850}" presName="parentText" presStyleLbl="node1" presStyleIdx="4" presStyleCnt="5">
        <dgm:presLayoutVars>
          <dgm:chMax val="0"/>
          <dgm:bulletEnabled val="1"/>
        </dgm:presLayoutVars>
      </dgm:prSet>
      <dgm:spPr/>
    </dgm:pt>
    <dgm:pt modelId="{E6E22125-B79D-4119-8960-79C49CE96B2E}" type="pres">
      <dgm:prSet presAssocID="{506E3374-BE58-477A-8CED-916EFDAC0850}" presName="negativeSpace" presStyleCnt="0"/>
      <dgm:spPr/>
    </dgm:pt>
    <dgm:pt modelId="{41CEC2B3-3F1E-481B-970F-F2865299C7FA}" type="pres">
      <dgm:prSet presAssocID="{506E3374-BE58-477A-8CED-916EFDAC0850}" presName="childText" presStyleLbl="conFgAcc1" presStyleIdx="4" presStyleCnt="5">
        <dgm:presLayoutVars>
          <dgm:bulletEnabled val="1"/>
        </dgm:presLayoutVars>
      </dgm:prSet>
      <dgm:spPr/>
    </dgm:pt>
  </dgm:ptLst>
  <dgm:cxnLst>
    <dgm:cxn modelId="{D3895702-83F8-41ED-91C0-19D733C51F64}" type="presOf" srcId="{AC748693-D513-4B56-9F6D-2840EFAD9C9A}" destId="{A9CB43E4-71EE-4E1D-BF0B-FF058F52D249}" srcOrd="0" destOrd="1" presId="urn:microsoft.com/office/officeart/2005/8/layout/list1"/>
    <dgm:cxn modelId="{38739007-BDBD-41CE-ACDB-5B1C4AC2904D}" srcId="{9A599BCD-EB75-4897-B6CF-49003AA6E72C}" destId="{DED15FEF-5539-4367-8C2C-B47DC5E2BF30}" srcOrd="0" destOrd="0" parTransId="{28504B20-6CDB-4F88-89DB-E20AD879ABB4}" sibTransId="{4F6692BC-4315-4DDE-A734-4DE4F4F070F1}"/>
    <dgm:cxn modelId="{89F16E08-12A5-4215-B318-419EA7B1BE05}" srcId="{43DFA4FC-108A-46A4-9C1F-F315EBDD2233}" destId="{07D65D43-DB1A-4071-96C3-E032FF109BE2}" srcOrd="0" destOrd="0" parTransId="{3251C1EF-97D7-46CF-8E5C-6709E254AE0C}" sibTransId="{986ADA1C-81F1-4730-94EE-62E1B6F40268}"/>
    <dgm:cxn modelId="{5D2E2610-6DF8-4404-84C0-BD67D695C63C}" type="presOf" srcId="{AC3CBCC4-1C28-4218-99FF-7037ED014EE0}" destId="{B07A2989-622D-4D48-B249-8C7E273351D1}" srcOrd="0" destOrd="1" presId="urn:microsoft.com/office/officeart/2005/8/layout/list1"/>
    <dgm:cxn modelId="{810A8511-B03A-4A6D-9F9E-025DD0A5C34C}" srcId="{6C3D3D2B-7F3D-4BB6-A912-EF616558CAA9}" destId="{B3EED129-945E-40DE-8E95-AB49B53A56AF}" srcOrd="0" destOrd="0" parTransId="{FD8241FF-A69F-4145-ABD4-D4EE7B441739}" sibTransId="{1E013E9E-272C-4E93-81E4-F0A4BFB09356}"/>
    <dgm:cxn modelId="{F66D5B15-67BB-47ED-9B1F-DDB9F0D22B5E}" srcId="{506E3374-BE58-477A-8CED-916EFDAC0850}" destId="{FDE63B64-8DF1-4B4D-9AC3-6BDD17151CF4}" srcOrd="1" destOrd="0" parTransId="{1DCB9C26-59F2-4CF4-9CE8-5B1277AD8F9A}" sibTransId="{A4D10A41-A69B-4BBD-94AE-054FF9FCAA23}"/>
    <dgm:cxn modelId="{DF933C22-39F7-4C04-AD3B-35F380893640}" srcId="{676EA02C-E1CB-4EE7-9B96-A797BD11689D}" destId="{AC748693-D513-4B56-9F6D-2840EFAD9C9A}" srcOrd="1" destOrd="0" parTransId="{A2AF82E5-20B7-4537-AAC2-7B78E42929F0}" sibTransId="{B18C4B9B-28C5-47A2-B7C3-2C73A1A8926F}"/>
    <dgm:cxn modelId="{DB0FB135-11C7-4536-9455-1A75298ABC6F}" type="presOf" srcId="{522442A7-45DF-4C1B-B6F7-18B76F3E6C24}" destId="{A9CB43E4-71EE-4E1D-BF0B-FF058F52D249}" srcOrd="0" destOrd="3" presId="urn:microsoft.com/office/officeart/2005/8/layout/list1"/>
    <dgm:cxn modelId="{A9D1DE39-08E0-4B6C-8B9D-F433A4545B87}" type="presOf" srcId="{A7085FB3-94B5-47F9-8360-DA1900171F4C}" destId="{A9CB43E4-71EE-4E1D-BF0B-FF058F52D249}" srcOrd="0" destOrd="0" presId="urn:microsoft.com/office/officeart/2005/8/layout/list1"/>
    <dgm:cxn modelId="{5790443D-95DD-4FF1-917B-D78AD5EB6BB7}" type="presOf" srcId="{43DFA4FC-108A-46A4-9C1F-F315EBDD2233}" destId="{858C8192-4A62-44E4-812F-139418C229C3}" srcOrd="0" destOrd="0" presId="urn:microsoft.com/office/officeart/2005/8/layout/list1"/>
    <dgm:cxn modelId="{67C09B3F-BAEA-4E6B-8A6D-2CABDA2F5CF4}" type="presOf" srcId="{D2721605-B176-4D3A-84A3-6760F0F18BCE}" destId="{A9CB43E4-71EE-4E1D-BF0B-FF058F52D249}" srcOrd="0" destOrd="2" presId="urn:microsoft.com/office/officeart/2005/8/layout/list1"/>
    <dgm:cxn modelId="{C829785C-9848-4724-A2A0-19DB63E464DF}" srcId="{DE60E440-ED8D-4CD9-84AE-58739248C922}" destId="{676EA02C-E1CB-4EE7-9B96-A797BD11689D}" srcOrd="3" destOrd="0" parTransId="{49FCC66A-7791-4908-810C-467943EFC378}" sibTransId="{D7262BAD-CAAA-428F-B763-C1FBAC78C6D9}"/>
    <dgm:cxn modelId="{22DB4C41-0CD5-43FF-B336-CE072FE70CF3}" srcId="{DE60E440-ED8D-4CD9-84AE-58739248C922}" destId="{43DFA4FC-108A-46A4-9C1F-F315EBDD2233}" srcOrd="0" destOrd="0" parTransId="{674F45EF-DEC2-4606-9E32-93DA020266F2}" sibTransId="{87A738EC-BEBF-4EE5-BEAA-6DB99AC68C96}"/>
    <dgm:cxn modelId="{B540BC61-5D2D-4533-B7AD-CC3C46F9B5B5}" srcId="{DE60E440-ED8D-4CD9-84AE-58739248C922}" destId="{9A599BCD-EB75-4897-B6CF-49003AA6E72C}" srcOrd="2" destOrd="0" parTransId="{7DCF003C-CF43-4F9D-864B-9FC7B8B9C3E1}" sibTransId="{8FB32131-895C-4303-BD4D-C208C0A040C1}"/>
    <dgm:cxn modelId="{53E95E42-7F45-4AE6-9EB7-72D63E7A53F1}" type="presOf" srcId="{43DFA4FC-108A-46A4-9C1F-F315EBDD2233}" destId="{10DB641A-7AC6-4427-BCE8-18CE1B99114C}" srcOrd="1" destOrd="0" presId="urn:microsoft.com/office/officeart/2005/8/layout/list1"/>
    <dgm:cxn modelId="{B10DBB63-1D8C-4E3C-A1ED-1A2F72F681AF}" srcId="{AC748693-D513-4B56-9F6D-2840EFAD9C9A}" destId="{522442A7-45DF-4C1B-B6F7-18B76F3E6C24}" srcOrd="1" destOrd="0" parTransId="{423D0AE4-1C88-4D7A-B055-66037EA814CA}" sibTransId="{8E3C7D19-C68B-4D4E-B39C-3B237114910C}"/>
    <dgm:cxn modelId="{9DE45E4A-4B60-428E-BA76-76AB175D2D73}" srcId="{DE60E440-ED8D-4CD9-84AE-58739248C922}" destId="{6C3D3D2B-7F3D-4BB6-A912-EF616558CAA9}" srcOrd="1" destOrd="0" parTransId="{924999A7-5076-4952-8236-F5C834654CD8}" sibTransId="{AD271392-0ED1-480F-BACF-3AAD2F778561}"/>
    <dgm:cxn modelId="{12741F75-A32A-4A07-A851-ECD13E8CF598}" srcId="{676EA02C-E1CB-4EE7-9B96-A797BD11689D}" destId="{A7085FB3-94B5-47F9-8360-DA1900171F4C}" srcOrd="0" destOrd="0" parTransId="{393C31A5-F180-4045-9ADB-5704A815BAFC}" sibTransId="{61A9F2ED-E423-47E2-BB57-11218E039FD2}"/>
    <dgm:cxn modelId="{79190456-2CA6-4184-861D-82566F53B96F}" type="presOf" srcId="{9A599BCD-EB75-4897-B6CF-49003AA6E72C}" destId="{34E3ABEE-C45F-448F-B594-81CB08DA2F9E}" srcOrd="0" destOrd="0" presId="urn:microsoft.com/office/officeart/2005/8/layout/list1"/>
    <dgm:cxn modelId="{4B080756-7BD5-488B-87CE-B4CCA937A75D}" type="presOf" srcId="{DED15FEF-5539-4367-8C2C-B47DC5E2BF30}" destId="{B07A2989-622D-4D48-B249-8C7E273351D1}" srcOrd="0" destOrd="0" presId="urn:microsoft.com/office/officeart/2005/8/layout/list1"/>
    <dgm:cxn modelId="{CD3A5D59-BE58-40C2-8A8D-D8DB17D686E8}" type="presOf" srcId="{676EA02C-E1CB-4EE7-9B96-A797BD11689D}" destId="{6A67C4D9-609B-4A3D-8408-A7C27F11F550}" srcOrd="0" destOrd="0" presId="urn:microsoft.com/office/officeart/2005/8/layout/list1"/>
    <dgm:cxn modelId="{45D5CF5A-7102-49FD-A628-FEAA98B37264}" type="presOf" srcId="{B8E0F6AB-3991-4BEB-B757-9A933357D0BB}" destId="{41CEC2B3-3F1E-481B-970F-F2865299C7FA}" srcOrd="0" destOrd="0" presId="urn:microsoft.com/office/officeart/2005/8/layout/list1"/>
    <dgm:cxn modelId="{E80FD37A-868C-4252-8883-55F8CA616772}" srcId="{AC748693-D513-4B56-9F6D-2840EFAD9C9A}" destId="{D2721605-B176-4D3A-84A3-6760F0F18BCE}" srcOrd="0" destOrd="0" parTransId="{71B693F5-0AC5-4CEC-91BC-C7A618F66D0B}" sibTransId="{823E0880-4CD5-435D-9BB4-737E486F1A01}"/>
    <dgm:cxn modelId="{1262718B-3C8F-42CC-A6E0-D0616ED30AC9}" type="presOf" srcId="{506E3374-BE58-477A-8CED-916EFDAC0850}" destId="{4D249A2C-4530-4CBA-B303-AAA4318288AA}" srcOrd="0" destOrd="0" presId="urn:microsoft.com/office/officeart/2005/8/layout/list1"/>
    <dgm:cxn modelId="{AC36CA8F-2B60-496D-A56E-8EEF81FBDC29}" type="presOf" srcId="{506E3374-BE58-477A-8CED-916EFDAC0850}" destId="{870C38D5-9163-4E0A-9073-C6A82BC95511}" srcOrd="1" destOrd="0" presId="urn:microsoft.com/office/officeart/2005/8/layout/list1"/>
    <dgm:cxn modelId="{0B38DE9A-ADAD-48AD-8E5D-6700A7DF183D}" type="presOf" srcId="{B3EED129-945E-40DE-8E95-AB49B53A56AF}" destId="{FE9A586B-C2A5-4C37-8787-7C33E87495DF}" srcOrd="0" destOrd="0" presId="urn:microsoft.com/office/officeart/2005/8/layout/list1"/>
    <dgm:cxn modelId="{EA671E9D-53CF-459B-B9A7-773A3647D422}" srcId="{DE60E440-ED8D-4CD9-84AE-58739248C922}" destId="{506E3374-BE58-477A-8CED-916EFDAC0850}" srcOrd="4" destOrd="0" parTransId="{114B246F-F2F9-4A9B-8434-942C28F674E9}" sibTransId="{F9D0F9F8-FCB8-474A-8BF9-DEA94058D3DB}"/>
    <dgm:cxn modelId="{094CE5A2-F14E-4FE6-A8B4-E435A111FF61}" type="presOf" srcId="{9A599BCD-EB75-4897-B6CF-49003AA6E72C}" destId="{918EE3F2-AC14-4F1C-8B36-A3B0380270B1}" srcOrd="1" destOrd="0" presId="urn:microsoft.com/office/officeart/2005/8/layout/list1"/>
    <dgm:cxn modelId="{14E590BE-2394-49AF-B12E-4B9DC9041046}" type="presOf" srcId="{07D65D43-DB1A-4071-96C3-E032FF109BE2}" destId="{771943F3-4F67-46D3-8FD8-F2B6F8D40E02}" srcOrd="0" destOrd="0" presId="urn:microsoft.com/office/officeart/2005/8/layout/list1"/>
    <dgm:cxn modelId="{2C5034C4-974D-4D46-A115-95D84831496E}" type="presOf" srcId="{6C3D3D2B-7F3D-4BB6-A912-EF616558CAA9}" destId="{067797B6-0DE0-43F1-9980-44CCC09F7AE1}" srcOrd="0" destOrd="0" presId="urn:microsoft.com/office/officeart/2005/8/layout/list1"/>
    <dgm:cxn modelId="{7FD47DD3-1004-4554-8F11-6916C9AC5E2A}" srcId="{9A599BCD-EB75-4897-B6CF-49003AA6E72C}" destId="{AC3CBCC4-1C28-4218-99FF-7037ED014EE0}" srcOrd="1" destOrd="0" parTransId="{A63D20DA-D920-4E84-ACF5-84C0EC9734A6}" sibTransId="{1551BAE5-3258-4EB6-9451-65B1121E120E}"/>
    <dgm:cxn modelId="{C63837DB-94F8-4712-AAA9-80170911C43E}" type="presOf" srcId="{FDE63B64-8DF1-4B4D-9AC3-6BDD17151CF4}" destId="{41CEC2B3-3F1E-481B-970F-F2865299C7FA}" srcOrd="0" destOrd="1" presId="urn:microsoft.com/office/officeart/2005/8/layout/list1"/>
    <dgm:cxn modelId="{0BA345E6-A541-4889-804C-AE3389908326}" srcId="{506E3374-BE58-477A-8CED-916EFDAC0850}" destId="{B8E0F6AB-3991-4BEB-B757-9A933357D0BB}" srcOrd="0" destOrd="0" parTransId="{BAEC2D21-4D4D-407B-BD86-1D5C03276655}" sibTransId="{38E3AF5E-DF9D-446E-B5A2-0B3EA3F38B64}"/>
    <dgm:cxn modelId="{E428A0EE-A957-4C8B-9F28-396ED19AFFD9}" type="presOf" srcId="{6C3D3D2B-7F3D-4BB6-A912-EF616558CAA9}" destId="{7397F830-BAA3-4E08-BFDB-19B3DCAF12F4}" srcOrd="1" destOrd="0" presId="urn:microsoft.com/office/officeart/2005/8/layout/list1"/>
    <dgm:cxn modelId="{76EDE1F1-C33F-4AF0-B0A5-692C81741B2F}" type="presOf" srcId="{DE60E440-ED8D-4CD9-84AE-58739248C922}" destId="{7870DE44-B7EE-42F1-A058-3CB4EB6D2260}" srcOrd="0" destOrd="0" presId="urn:microsoft.com/office/officeart/2005/8/layout/list1"/>
    <dgm:cxn modelId="{1C16E2F4-1884-4CE7-8573-AD4C58F50FB0}" type="presOf" srcId="{676EA02C-E1CB-4EE7-9B96-A797BD11689D}" destId="{47D9F50C-29BB-4F73-9E7A-3A3E3B7897A4}" srcOrd="1" destOrd="0" presId="urn:microsoft.com/office/officeart/2005/8/layout/list1"/>
    <dgm:cxn modelId="{90221B00-270F-4E6E-B52B-0B3699CE9BBF}" type="presParOf" srcId="{7870DE44-B7EE-42F1-A058-3CB4EB6D2260}" destId="{2156F744-EEA5-490C-A669-9CD4361599F6}" srcOrd="0" destOrd="0" presId="urn:microsoft.com/office/officeart/2005/8/layout/list1"/>
    <dgm:cxn modelId="{F293CD9D-C9A8-4973-96A3-6A5B49FD3997}" type="presParOf" srcId="{2156F744-EEA5-490C-A669-9CD4361599F6}" destId="{858C8192-4A62-44E4-812F-139418C229C3}" srcOrd="0" destOrd="0" presId="urn:microsoft.com/office/officeart/2005/8/layout/list1"/>
    <dgm:cxn modelId="{71DA90AF-9B9E-48FD-826D-B220ED80191C}" type="presParOf" srcId="{2156F744-EEA5-490C-A669-9CD4361599F6}" destId="{10DB641A-7AC6-4427-BCE8-18CE1B99114C}" srcOrd="1" destOrd="0" presId="urn:microsoft.com/office/officeart/2005/8/layout/list1"/>
    <dgm:cxn modelId="{193245E4-63EF-4803-8195-7C8B3FAC4098}" type="presParOf" srcId="{7870DE44-B7EE-42F1-A058-3CB4EB6D2260}" destId="{37399327-42B6-47F3-8B68-4AE32AD317EF}" srcOrd="1" destOrd="0" presId="urn:microsoft.com/office/officeart/2005/8/layout/list1"/>
    <dgm:cxn modelId="{5969DFCC-7633-40E4-8E79-0BF663A79A3E}" type="presParOf" srcId="{7870DE44-B7EE-42F1-A058-3CB4EB6D2260}" destId="{771943F3-4F67-46D3-8FD8-F2B6F8D40E02}" srcOrd="2" destOrd="0" presId="urn:microsoft.com/office/officeart/2005/8/layout/list1"/>
    <dgm:cxn modelId="{759A4130-0CF5-4A9E-BDFB-67358EA4549F}" type="presParOf" srcId="{7870DE44-B7EE-42F1-A058-3CB4EB6D2260}" destId="{1098F27F-AA57-4EDB-B133-F9C679058D81}" srcOrd="3" destOrd="0" presId="urn:microsoft.com/office/officeart/2005/8/layout/list1"/>
    <dgm:cxn modelId="{5B24C083-72BB-4CD6-B000-6F78C6627579}" type="presParOf" srcId="{7870DE44-B7EE-42F1-A058-3CB4EB6D2260}" destId="{CC9CEAA1-2C6E-4B17-9DFE-A3247A1FC844}" srcOrd="4" destOrd="0" presId="urn:microsoft.com/office/officeart/2005/8/layout/list1"/>
    <dgm:cxn modelId="{FC1E98FB-C219-4290-9F10-B47EDDEDED3B}" type="presParOf" srcId="{CC9CEAA1-2C6E-4B17-9DFE-A3247A1FC844}" destId="{067797B6-0DE0-43F1-9980-44CCC09F7AE1}" srcOrd="0" destOrd="0" presId="urn:microsoft.com/office/officeart/2005/8/layout/list1"/>
    <dgm:cxn modelId="{F1657735-7736-4613-BE87-70FB3323D96E}" type="presParOf" srcId="{CC9CEAA1-2C6E-4B17-9DFE-A3247A1FC844}" destId="{7397F830-BAA3-4E08-BFDB-19B3DCAF12F4}" srcOrd="1" destOrd="0" presId="urn:microsoft.com/office/officeart/2005/8/layout/list1"/>
    <dgm:cxn modelId="{C2A19B83-AF65-442B-A604-1A668770347D}" type="presParOf" srcId="{7870DE44-B7EE-42F1-A058-3CB4EB6D2260}" destId="{1D9D845D-E980-49A7-9B6F-B21544C0FFB1}" srcOrd="5" destOrd="0" presId="urn:microsoft.com/office/officeart/2005/8/layout/list1"/>
    <dgm:cxn modelId="{364A179F-13D9-4781-9835-C50685FB2038}" type="presParOf" srcId="{7870DE44-B7EE-42F1-A058-3CB4EB6D2260}" destId="{FE9A586B-C2A5-4C37-8787-7C33E87495DF}" srcOrd="6" destOrd="0" presId="urn:microsoft.com/office/officeart/2005/8/layout/list1"/>
    <dgm:cxn modelId="{BD470BEF-6DDB-461B-B8D9-1DCB30599499}" type="presParOf" srcId="{7870DE44-B7EE-42F1-A058-3CB4EB6D2260}" destId="{C310B56F-1816-40EE-BB34-9B87D68AD10E}" srcOrd="7" destOrd="0" presId="urn:microsoft.com/office/officeart/2005/8/layout/list1"/>
    <dgm:cxn modelId="{B2ACFA53-A507-4968-8299-5CE3868A340D}" type="presParOf" srcId="{7870DE44-B7EE-42F1-A058-3CB4EB6D2260}" destId="{3C5CF894-AEF6-4CA8-A161-77CAA1F223C2}" srcOrd="8" destOrd="0" presId="urn:microsoft.com/office/officeart/2005/8/layout/list1"/>
    <dgm:cxn modelId="{CA696F7A-2328-4F5D-BCBA-FFF225CE8137}" type="presParOf" srcId="{3C5CF894-AEF6-4CA8-A161-77CAA1F223C2}" destId="{34E3ABEE-C45F-448F-B594-81CB08DA2F9E}" srcOrd="0" destOrd="0" presId="urn:microsoft.com/office/officeart/2005/8/layout/list1"/>
    <dgm:cxn modelId="{4390E4BF-1DE9-46B9-A222-E868189C8A50}" type="presParOf" srcId="{3C5CF894-AEF6-4CA8-A161-77CAA1F223C2}" destId="{918EE3F2-AC14-4F1C-8B36-A3B0380270B1}" srcOrd="1" destOrd="0" presId="urn:microsoft.com/office/officeart/2005/8/layout/list1"/>
    <dgm:cxn modelId="{1D38649A-8443-40A9-8C2B-2539AF4C8835}" type="presParOf" srcId="{7870DE44-B7EE-42F1-A058-3CB4EB6D2260}" destId="{1526F0C2-4E61-4CF8-8DB7-F49ACF5ACD4C}" srcOrd="9" destOrd="0" presId="urn:microsoft.com/office/officeart/2005/8/layout/list1"/>
    <dgm:cxn modelId="{5DF0275F-DDBD-4342-A30C-CD63C14A8FCE}" type="presParOf" srcId="{7870DE44-B7EE-42F1-A058-3CB4EB6D2260}" destId="{B07A2989-622D-4D48-B249-8C7E273351D1}" srcOrd="10" destOrd="0" presId="urn:microsoft.com/office/officeart/2005/8/layout/list1"/>
    <dgm:cxn modelId="{AABDB8AC-3B8B-4EB5-B6BB-E01A1FAAB5A6}" type="presParOf" srcId="{7870DE44-B7EE-42F1-A058-3CB4EB6D2260}" destId="{88D27708-F32C-4FF1-9B8D-56FF53903E4C}" srcOrd="11" destOrd="0" presId="urn:microsoft.com/office/officeart/2005/8/layout/list1"/>
    <dgm:cxn modelId="{593C6D31-F179-4E4E-8D06-C24E3983B6F2}" type="presParOf" srcId="{7870DE44-B7EE-42F1-A058-3CB4EB6D2260}" destId="{5149F8C6-0C46-471F-875E-99731C428474}" srcOrd="12" destOrd="0" presId="urn:microsoft.com/office/officeart/2005/8/layout/list1"/>
    <dgm:cxn modelId="{B3442DB5-2240-45A9-A798-B2F2DB943CBA}" type="presParOf" srcId="{5149F8C6-0C46-471F-875E-99731C428474}" destId="{6A67C4D9-609B-4A3D-8408-A7C27F11F550}" srcOrd="0" destOrd="0" presId="urn:microsoft.com/office/officeart/2005/8/layout/list1"/>
    <dgm:cxn modelId="{3879CCAD-C345-457A-99A3-4AA42DB0EAC3}" type="presParOf" srcId="{5149F8C6-0C46-471F-875E-99731C428474}" destId="{47D9F50C-29BB-4F73-9E7A-3A3E3B7897A4}" srcOrd="1" destOrd="0" presId="urn:microsoft.com/office/officeart/2005/8/layout/list1"/>
    <dgm:cxn modelId="{482CD9F1-D583-4E1C-964A-DC62F350A02A}" type="presParOf" srcId="{7870DE44-B7EE-42F1-A058-3CB4EB6D2260}" destId="{B2D68B6B-8D85-4E9E-AC8B-83563C1D1367}" srcOrd="13" destOrd="0" presId="urn:microsoft.com/office/officeart/2005/8/layout/list1"/>
    <dgm:cxn modelId="{DEF7D597-9637-4CD4-AAA6-30029449BB1B}" type="presParOf" srcId="{7870DE44-B7EE-42F1-A058-3CB4EB6D2260}" destId="{A9CB43E4-71EE-4E1D-BF0B-FF058F52D249}" srcOrd="14" destOrd="0" presId="urn:microsoft.com/office/officeart/2005/8/layout/list1"/>
    <dgm:cxn modelId="{7826B81B-0B32-4675-A440-9FF625BC2782}" type="presParOf" srcId="{7870DE44-B7EE-42F1-A058-3CB4EB6D2260}" destId="{475868A8-0F56-4EFB-85A1-91F2A57412D3}" srcOrd="15" destOrd="0" presId="urn:microsoft.com/office/officeart/2005/8/layout/list1"/>
    <dgm:cxn modelId="{7F2169D4-EE36-4B58-B566-CBC5738063BA}" type="presParOf" srcId="{7870DE44-B7EE-42F1-A058-3CB4EB6D2260}" destId="{0C4BC8DF-E163-4189-B4B0-5D017C8BD6A7}" srcOrd="16" destOrd="0" presId="urn:microsoft.com/office/officeart/2005/8/layout/list1"/>
    <dgm:cxn modelId="{FAA59E0E-A4BE-4F3D-BEFB-604BA76BE9B9}" type="presParOf" srcId="{0C4BC8DF-E163-4189-B4B0-5D017C8BD6A7}" destId="{4D249A2C-4530-4CBA-B303-AAA4318288AA}" srcOrd="0" destOrd="0" presId="urn:microsoft.com/office/officeart/2005/8/layout/list1"/>
    <dgm:cxn modelId="{DEFF7B43-8A6D-4171-81A6-8E7ADD186B6D}" type="presParOf" srcId="{0C4BC8DF-E163-4189-B4B0-5D017C8BD6A7}" destId="{870C38D5-9163-4E0A-9073-C6A82BC95511}" srcOrd="1" destOrd="0" presId="urn:microsoft.com/office/officeart/2005/8/layout/list1"/>
    <dgm:cxn modelId="{399126D3-094E-41A3-B2C0-05201F41E09A}" type="presParOf" srcId="{7870DE44-B7EE-42F1-A058-3CB4EB6D2260}" destId="{E6E22125-B79D-4119-8960-79C49CE96B2E}" srcOrd="17" destOrd="0" presId="urn:microsoft.com/office/officeart/2005/8/layout/list1"/>
    <dgm:cxn modelId="{E41918F6-4E3F-48A8-BA03-82944CE7F00D}" type="presParOf" srcId="{7870DE44-B7EE-42F1-A058-3CB4EB6D2260}" destId="{41CEC2B3-3F1E-481B-970F-F2865299C7FA}" srcOrd="18"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01F0C36-0F5F-4C73-B7B8-EA8DC4D6587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F13202D-533B-4961-99DF-7524D9ACA145}">
      <dgm:prSet/>
      <dgm:spPr/>
      <dgm:t>
        <a:bodyPr/>
        <a:lstStyle/>
        <a:p>
          <a:pPr>
            <a:lnSpc>
              <a:spcPct val="100000"/>
            </a:lnSpc>
          </a:pPr>
          <a:r>
            <a:rPr lang="en-US" dirty="0"/>
            <a:t>What is the overall satisfaction with the customer experience provided at International Cheese Shop?</a:t>
          </a:r>
        </a:p>
      </dgm:t>
    </dgm:pt>
    <dgm:pt modelId="{36670ED3-E0EA-4EA1-9A02-EFF6ABC05BE9}" type="parTrans" cxnId="{1597C371-DC3E-4426-A249-867EBC72ED19}">
      <dgm:prSet/>
      <dgm:spPr/>
      <dgm:t>
        <a:bodyPr/>
        <a:lstStyle/>
        <a:p>
          <a:endParaRPr lang="en-US"/>
        </a:p>
      </dgm:t>
    </dgm:pt>
    <dgm:pt modelId="{677B44AB-3A1D-4AC3-B8C4-1770D67C8857}" type="sibTrans" cxnId="{1597C371-DC3E-4426-A249-867EBC72ED19}">
      <dgm:prSet/>
      <dgm:spPr/>
      <dgm:t>
        <a:bodyPr/>
        <a:lstStyle/>
        <a:p>
          <a:endParaRPr lang="en-US"/>
        </a:p>
      </dgm:t>
    </dgm:pt>
    <dgm:pt modelId="{E3BF119C-957A-41E8-B587-76DF519B4D16}">
      <dgm:prSet/>
      <dgm:spPr/>
      <dgm:t>
        <a:bodyPr/>
        <a:lstStyle/>
        <a:p>
          <a:pPr>
            <a:lnSpc>
              <a:spcPct val="100000"/>
            </a:lnSpc>
          </a:pPr>
          <a:r>
            <a:rPr lang="en-US" dirty="0"/>
            <a:t>Is International Cheese Shop meeting customer expectations regarding the selection of cheeses being offered?</a:t>
          </a:r>
        </a:p>
      </dgm:t>
    </dgm:pt>
    <dgm:pt modelId="{4C8BB955-88CC-421F-9A71-EE35B5B71566}" type="parTrans" cxnId="{19D506E9-B536-4CFF-A193-65FC7509A05A}">
      <dgm:prSet/>
      <dgm:spPr/>
      <dgm:t>
        <a:bodyPr/>
        <a:lstStyle/>
        <a:p>
          <a:endParaRPr lang="en-US"/>
        </a:p>
      </dgm:t>
    </dgm:pt>
    <dgm:pt modelId="{9DDC2907-E0D1-4D23-8AF7-B7946CC8E561}" type="sibTrans" cxnId="{19D506E9-B536-4CFF-A193-65FC7509A05A}">
      <dgm:prSet/>
      <dgm:spPr/>
      <dgm:t>
        <a:bodyPr/>
        <a:lstStyle/>
        <a:p>
          <a:endParaRPr lang="en-US"/>
        </a:p>
      </dgm:t>
    </dgm:pt>
    <dgm:pt modelId="{C872361D-CC95-4556-864C-C766017F216F}">
      <dgm:prSet/>
      <dgm:spPr/>
      <dgm:t>
        <a:bodyPr/>
        <a:lstStyle/>
        <a:p>
          <a:pPr>
            <a:lnSpc>
              <a:spcPct val="100000"/>
            </a:lnSpc>
          </a:pPr>
          <a:r>
            <a:rPr lang="en-US" dirty="0"/>
            <a:t>Are customers generally satisfied with the service being provided by the staff?</a:t>
          </a:r>
        </a:p>
      </dgm:t>
    </dgm:pt>
    <dgm:pt modelId="{25284B14-8432-42D9-8BC9-978A668CAE85}" type="parTrans" cxnId="{F1A2945E-6FE6-489F-8E14-7F2701990D77}">
      <dgm:prSet/>
      <dgm:spPr/>
      <dgm:t>
        <a:bodyPr/>
        <a:lstStyle/>
        <a:p>
          <a:endParaRPr lang="en-US"/>
        </a:p>
      </dgm:t>
    </dgm:pt>
    <dgm:pt modelId="{3BFCDFB4-57AD-4BAF-AAF4-F203AF1AD1C2}" type="sibTrans" cxnId="{F1A2945E-6FE6-489F-8E14-7F2701990D77}">
      <dgm:prSet/>
      <dgm:spPr/>
      <dgm:t>
        <a:bodyPr/>
        <a:lstStyle/>
        <a:p>
          <a:endParaRPr lang="en-US"/>
        </a:p>
      </dgm:t>
    </dgm:pt>
    <dgm:pt modelId="{7DEE6171-3944-4CFF-986B-851244185489}">
      <dgm:prSet/>
      <dgm:spPr/>
      <dgm:t>
        <a:bodyPr/>
        <a:lstStyle/>
        <a:p>
          <a:pPr>
            <a:lnSpc>
              <a:spcPct val="100000"/>
            </a:lnSpc>
          </a:pPr>
          <a:r>
            <a:rPr lang="en-US" dirty="0"/>
            <a:t>Are there any additional services that customers want that are not being offered?</a:t>
          </a:r>
        </a:p>
      </dgm:t>
    </dgm:pt>
    <dgm:pt modelId="{45BFCC15-A85B-49DB-B387-2505CB9D3CF5}" type="parTrans" cxnId="{643834FD-9012-4035-9AD2-11398C4E24B6}">
      <dgm:prSet/>
      <dgm:spPr/>
      <dgm:t>
        <a:bodyPr/>
        <a:lstStyle/>
        <a:p>
          <a:endParaRPr lang="en-US"/>
        </a:p>
      </dgm:t>
    </dgm:pt>
    <dgm:pt modelId="{1C46C630-E7AE-46FE-8445-4ACE2557EB41}" type="sibTrans" cxnId="{643834FD-9012-4035-9AD2-11398C4E24B6}">
      <dgm:prSet/>
      <dgm:spPr/>
      <dgm:t>
        <a:bodyPr/>
        <a:lstStyle/>
        <a:p>
          <a:endParaRPr lang="en-US"/>
        </a:p>
      </dgm:t>
    </dgm:pt>
    <dgm:pt modelId="{5FCC1F20-8DA4-4C27-9476-296484FD8CC5}" type="pres">
      <dgm:prSet presAssocID="{201F0C36-0F5F-4C73-B7B8-EA8DC4D6587C}" presName="root" presStyleCnt="0">
        <dgm:presLayoutVars>
          <dgm:dir/>
          <dgm:resizeHandles val="exact"/>
        </dgm:presLayoutVars>
      </dgm:prSet>
      <dgm:spPr/>
    </dgm:pt>
    <dgm:pt modelId="{F9D95521-25AC-4FB9-8295-4D2EBD0393E7}" type="pres">
      <dgm:prSet presAssocID="{CF13202D-533B-4961-99DF-7524D9ACA145}" presName="compNode" presStyleCnt="0"/>
      <dgm:spPr/>
    </dgm:pt>
    <dgm:pt modelId="{9038C749-0F1A-4D57-B227-5A8ADEEC8E71}" type="pres">
      <dgm:prSet presAssocID="{CF13202D-533B-4961-99DF-7524D9ACA145}" presName="bgRect" presStyleLbl="bgShp" presStyleIdx="0" presStyleCnt="4"/>
      <dgm:spPr/>
    </dgm:pt>
    <dgm:pt modelId="{874CB969-595C-41D1-A64B-241C3770ADE7}" type="pres">
      <dgm:prSet presAssocID="{CF13202D-533B-4961-99DF-7524D9ACA14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iling Face with No Fill"/>
        </a:ext>
      </dgm:extLst>
    </dgm:pt>
    <dgm:pt modelId="{329B62EC-02F9-4071-AC96-2E645D1CC2A0}" type="pres">
      <dgm:prSet presAssocID="{CF13202D-533B-4961-99DF-7524D9ACA145}" presName="spaceRect" presStyleCnt="0"/>
      <dgm:spPr/>
    </dgm:pt>
    <dgm:pt modelId="{7B6C5798-BD3F-48CF-AE13-99B041DD136D}" type="pres">
      <dgm:prSet presAssocID="{CF13202D-533B-4961-99DF-7524D9ACA145}" presName="parTx" presStyleLbl="revTx" presStyleIdx="0" presStyleCnt="4">
        <dgm:presLayoutVars>
          <dgm:chMax val="0"/>
          <dgm:chPref val="0"/>
        </dgm:presLayoutVars>
      </dgm:prSet>
      <dgm:spPr/>
    </dgm:pt>
    <dgm:pt modelId="{5324C15A-7425-4CFB-8D54-4E9091D6249C}" type="pres">
      <dgm:prSet presAssocID="{677B44AB-3A1D-4AC3-B8C4-1770D67C8857}" presName="sibTrans" presStyleCnt="0"/>
      <dgm:spPr/>
    </dgm:pt>
    <dgm:pt modelId="{0D4FFE00-1BC2-4BCE-B476-0B1427EF32C5}" type="pres">
      <dgm:prSet presAssocID="{E3BF119C-957A-41E8-B587-76DF519B4D16}" presName="compNode" presStyleCnt="0"/>
      <dgm:spPr/>
    </dgm:pt>
    <dgm:pt modelId="{3066EFF6-93DB-4FF7-912A-7EE448CC87AA}" type="pres">
      <dgm:prSet presAssocID="{E3BF119C-957A-41E8-B587-76DF519B4D16}" presName="bgRect" presStyleLbl="bgShp" presStyleIdx="1" presStyleCnt="4"/>
      <dgm:spPr/>
    </dgm:pt>
    <dgm:pt modelId="{3472307D-B7B9-4AE4-8250-B76BFF3611AC}" type="pres">
      <dgm:prSet presAssocID="{E3BF119C-957A-41E8-B587-76DF519B4D16}"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Rating 1 Star with solid fill"/>
        </a:ext>
      </dgm:extLst>
    </dgm:pt>
    <dgm:pt modelId="{18AA71E1-FFD3-4284-821D-E1F12026998A}" type="pres">
      <dgm:prSet presAssocID="{E3BF119C-957A-41E8-B587-76DF519B4D16}" presName="spaceRect" presStyleCnt="0"/>
      <dgm:spPr/>
    </dgm:pt>
    <dgm:pt modelId="{65585322-4974-4EDA-9865-15EE6E9BD7C3}" type="pres">
      <dgm:prSet presAssocID="{E3BF119C-957A-41E8-B587-76DF519B4D16}" presName="parTx" presStyleLbl="revTx" presStyleIdx="1" presStyleCnt="4">
        <dgm:presLayoutVars>
          <dgm:chMax val="0"/>
          <dgm:chPref val="0"/>
        </dgm:presLayoutVars>
      </dgm:prSet>
      <dgm:spPr/>
    </dgm:pt>
    <dgm:pt modelId="{D32A6E91-D69C-47AE-8BD9-D7954A3C0AE1}" type="pres">
      <dgm:prSet presAssocID="{9DDC2907-E0D1-4D23-8AF7-B7946CC8E561}" presName="sibTrans" presStyleCnt="0"/>
      <dgm:spPr/>
    </dgm:pt>
    <dgm:pt modelId="{400C03E4-FED1-4A73-9D54-2F0A40EF5BE7}" type="pres">
      <dgm:prSet presAssocID="{C872361D-CC95-4556-864C-C766017F216F}" presName="compNode" presStyleCnt="0"/>
      <dgm:spPr/>
    </dgm:pt>
    <dgm:pt modelId="{2BC27D04-9940-4994-A367-3C61B3246D30}" type="pres">
      <dgm:prSet presAssocID="{C872361D-CC95-4556-864C-C766017F216F}" presName="bgRect" presStyleLbl="bgShp" presStyleIdx="2" presStyleCnt="4"/>
      <dgm:spPr/>
    </dgm:pt>
    <dgm:pt modelId="{6D6B362D-DCC3-403A-9B7D-4E0C3038C13B}" type="pres">
      <dgm:prSet presAssocID="{C872361D-CC95-4556-864C-C766017F216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Questions with solid fill"/>
        </a:ext>
      </dgm:extLst>
    </dgm:pt>
    <dgm:pt modelId="{C6BA074A-7B14-4735-86AD-1E4FAB91702B}" type="pres">
      <dgm:prSet presAssocID="{C872361D-CC95-4556-864C-C766017F216F}" presName="spaceRect" presStyleCnt="0"/>
      <dgm:spPr/>
    </dgm:pt>
    <dgm:pt modelId="{161625D9-0ECF-4A20-BED8-96E8E69E777A}" type="pres">
      <dgm:prSet presAssocID="{C872361D-CC95-4556-864C-C766017F216F}" presName="parTx" presStyleLbl="revTx" presStyleIdx="2" presStyleCnt="4">
        <dgm:presLayoutVars>
          <dgm:chMax val="0"/>
          <dgm:chPref val="0"/>
        </dgm:presLayoutVars>
      </dgm:prSet>
      <dgm:spPr/>
    </dgm:pt>
    <dgm:pt modelId="{FAEC2232-20A5-44CF-8531-FF2F90AACEB7}" type="pres">
      <dgm:prSet presAssocID="{3BFCDFB4-57AD-4BAF-AAF4-F203AF1AD1C2}" presName="sibTrans" presStyleCnt="0"/>
      <dgm:spPr/>
    </dgm:pt>
    <dgm:pt modelId="{4BEB9F11-E0F5-401B-A43B-2A14B9C2F668}" type="pres">
      <dgm:prSet presAssocID="{7DEE6171-3944-4CFF-986B-851244185489}" presName="compNode" presStyleCnt="0"/>
      <dgm:spPr/>
    </dgm:pt>
    <dgm:pt modelId="{1B2F4D4A-D756-4348-99B4-08C7F236E266}" type="pres">
      <dgm:prSet presAssocID="{7DEE6171-3944-4CFF-986B-851244185489}" presName="bgRect" presStyleLbl="bgShp" presStyleIdx="3" presStyleCnt="4"/>
      <dgm:spPr/>
    </dgm:pt>
    <dgm:pt modelId="{D8732F89-9E62-43AA-BC3E-09BFE16A6161}" type="pres">
      <dgm:prSet presAssocID="{7DEE6171-3944-4CFF-986B-85124418548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Clipboard Mixed with solid fill"/>
        </a:ext>
      </dgm:extLst>
    </dgm:pt>
    <dgm:pt modelId="{AD82F348-2C10-4C85-8A69-3DA5B8FE0911}" type="pres">
      <dgm:prSet presAssocID="{7DEE6171-3944-4CFF-986B-851244185489}" presName="spaceRect" presStyleCnt="0"/>
      <dgm:spPr/>
    </dgm:pt>
    <dgm:pt modelId="{5819272D-3094-4DEC-9165-B7F9F21492B4}" type="pres">
      <dgm:prSet presAssocID="{7DEE6171-3944-4CFF-986B-851244185489}" presName="parTx" presStyleLbl="revTx" presStyleIdx="3" presStyleCnt="4">
        <dgm:presLayoutVars>
          <dgm:chMax val="0"/>
          <dgm:chPref val="0"/>
        </dgm:presLayoutVars>
      </dgm:prSet>
      <dgm:spPr/>
    </dgm:pt>
  </dgm:ptLst>
  <dgm:cxnLst>
    <dgm:cxn modelId="{B1CBAE21-C2B6-4F5B-84C8-2755A96B81FF}" type="presOf" srcId="{E3BF119C-957A-41E8-B587-76DF519B4D16}" destId="{65585322-4974-4EDA-9865-15EE6E9BD7C3}" srcOrd="0" destOrd="0" presId="urn:microsoft.com/office/officeart/2018/2/layout/IconVerticalSolidList"/>
    <dgm:cxn modelId="{F1A2945E-6FE6-489F-8E14-7F2701990D77}" srcId="{201F0C36-0F5F-4C73-B7B8-EA8DC4D6587C}" destId="{C872361D-CC95-4556-864C-C766017F216F}" srcOrd="2" destOrd="0" parTransId="{25284B14-8432-42D9-8BC9-978A668CAE85}" sibTransId="{3BFCDFB4-57AD-4BAF-AAF4-F203AF1AD1C2}"/>
    <dgm:cxn modelId="{4232C249-9222-4D9C-A14A-4B9D47C2F4D2}" type="presOf" srcId="{7DEE6171-3944-4CFF-986B-851244185489}" destId="{5819272D-3094-4DEC-9165-B7F9F21492B4}" srcOrd="0" destOrd="0" presId="urn:microsoft.com/office/officeart/2018/2/layout/IconVerticalSolidList"/>
    <dgm:cxn modelId="{1597C371-DC3E-4426-A249-867EBC72ED19}" srcId="{201F0C36-0F5F-4C73-B7B8-EA8DC4D6587C}" destId="{CF13202D-533B-4961-99DF-7524D9ACA145}" srcOrd="0" destOrd="0" parTransId="{36670ED3-E0EA-4EA1-9A02-EFF6ABC05BE9}" sibTransId="{677B44AB-3A1D-4AC3-B8C4-1770D67C8857}"/>
    <dgm:cxn modelId="{8A9E2A7C-6119-4BE8-B375-6543079FBA0E}" type="presOf" srcId="{CF13202D-533B-4961-99DF-7524D9ACA145}" destId="{7B6C5798-BD3F-48CF-AE13-99B041DD136D}" srcOrd="0" destOrd="0" presId="urn:microsoft.com/office/officeart/2018/2/layout/IconVerticalSolidList"/>
    <dgm:cxn modelId="{F17B28A2-2B82-4BF2-A4DD-4DC9A28046F2}" type="presOf" srcId="{C872361D-CC95-4556-864C-C766017F216F}" destId="{161625D9-0ECF-4A20-BED8-96E8E69E777A}" srcOrd="0" destOrd="0" presId="urn:microsoft.com/office/officeart/2018/2/layout/IconVerticalSolidList"/>
    <dgm:cxn modelId="{4144F3D1-F18C-41B6-9284-9DC5251C35B9}" type="presOf" srcId="{201F0C36-0F5F-4C73-B7B8-EA8DC4D6587C}" destId="{5FCC1F20-8DA4-4C27-9476-296484FD8CC5}" srcOrd="0" destOrd="0" presId="urn:microsoft.com/office/officeart/2018/2/layout/IconVerticalSolidList"/>
    <dgm:cxn modelId="{19D506E9-B536-4CFF-A193-65FC7509A05A}" srcId="{201F0C36-0F5F-4C73-B7B8-EA8DC4D6587C}" destId="{E3BF119C-957A-41E8-B587-76DF519B4D16}" srcOrd="1" destOrd="0" parTransId="{4C8BB955-88CC-421F-9A71-EE35B5B71566}" sibTransId="{9DDC2907-E0D1-4D23-8AF7-B7946CC8E561}"/>
    <dgm:cxn modelId="{643834FD-9012-4035-9AD2-11398C4E24B6}" srcId="{201F0C36-0F5F-4C73-B7B8-EA8DC4D6587C}" destId="{7DEE6171-3944-4CFF-986B-851244185489}" srcOrd="3" destOrd="0" parTransId="{45BFCC15-A85B-49DB-B387-2505CB9D3CF5}" sibTransId="{1C46C630-E7AE-46FE-8445-4ACE2557EB41}"/>
    <dgm:cxn modelId="{73E8C006-D58E-454F-9E19-5642867009CF}" type="presParOf" srcId="{5FCC1F20-8DA4-4C27-9476-296484FD8CC5}" destId="{F9D95521-25AC-4FB9-8295-4D2EBD0393E7}" srcOrd="0" destOrd="0" presId="urn:microsoft.com/office/officeart/2018/2/layout/IconVerticalSolidList"/>
    <dgm:cxn modelId="{BEFD8BEE-9980-463F-B460-CE3094FF58C9}" type="presParOf" srcId="{F9D95521-25AC-4FB9-8295-4D2EBD0393E7}" destId="{9038C749-0F1A-4D57-B227-5A8ADEEC8E71}" srcOrd="0" destOrd="0" presId="urn:microsoft.com/office/officeart/2018/2/layout/IconVerticalSolidList"/>
    <dgm:cxn modelId="{81E9DB4D-4258-4AA3-9FBE-D4FDFF54BDB2}" type="presParOf" srcId="{F9D95521-25AC-4FB9-8295-4D2EBD0393E7}" destId="{874CB969-595C-41D1-A64B-241C3770ADE7}" srcOrd="1" destOrd="0" presId="urn:microsoft.com/office/officeart/2018/2/layout/IconVerticalSolidList"/>
    <dgm:cxn modelId="{400FC5A1-D25C-49D7-9BB0-6810997D35CC}" type="presParOf" srcId="{F9D95521-25AC-4FB9-8295-4D2EBD0393E7}" destId="{329B62EC-02F9-4071-AC96-2E645D1CC2A0}" srcOrd="2" destOrd="0" presId="urn:microsoft.com/office/officeart/2018/2/layout/IconVerticalSolidList"/>
    <dgm:cxn modelId="{98CC877A-D7E0-4199-BEB5-6494E3BB2C18}" type="presParOf" srcId="{F9D95521-25AC-4FB9-8295-4D2EBD0393E7}" destId="{7B6C5798-BD3F-48CF-AE13-99B041DD136D}" srcOrd="3" destOrd="0" presId="urn:microsoft.com/office/officeart/2018/2/layout/IconVerticalSolidList"/>
    <dgm:cxn modelId="{5652DA33-8C6B-44B0-A20B-713EA43293C6}" type="presParOf" srcId="{5FCC1F20-8DA4-4C27-9476-296484FD8CC5}" destId="{5324C15A-7425-4CFB-8D54-4E9091D6249C}" srcOrd="1" destOrd="0" presId="urn:microsoft.com/office/officeart/2018/2/layout/IconVerticalSolidList"/>
    <dgm:cxn modelId="{26479DBF-6969-412A-88F6-4700F3CD9118}" type="presParOf" srcId="{5FCC1F20-8DA4-4C27-9476-296484FD8CC5}" destId="{0D4FFE00-1BC2-4BCE-B476-0B1427EF32C5}" srcOrd="2" destOrd="0" presId="urn:microsoft.com/office/officeart/2018/2/layout/IconVerticalSolidList"/>
    <dgm:cxn modelId="{B067BACE-6A5E-48D0-8522-D01D06385197}" type="presParOf" srcId="{0D4FFE00-1BC2-4BCE-B476-0B1427EF32C5}" destId="{3066EFF6-93DB-4FF7-912A-7EE448CC87AA}" srcOrd="0" destOrd="0" presId="urn:microsoft.com/office/officeart/2018/2/layout/IconVerticalSolidList"/>
    <dgm:cxn modelId="{D1EC7BDB-1E33-47F6-8009-EAE9B6B4FFB8}" type="presParOf" srcId="{0D4FFE00-1BC2-4BCE-B476-0B1427EF32C5}" destId="{3472307D-B7B9-4AE4-8250-B76BFF3611AC}" srcOrd="1" destOrd="0" presId="urn:microsoft.com/office/officeart/2018/2/layout/IconVerticalSolidList"/>
    <dgm:cxn modelId="{69F62C4C-041F-4EF9-A8C4-5D7126B4DBFC}" type="presParOf" srcId="{0D4FFE00-1BC2-4BCE-B476-0B1427EF32C5}" destId="{18AA71E1-FFD3-4284-821D-E1F12026998A}" srcOrd="2" destOrd="0" presId="urn:microsoft.com/office/officeart/2018/2/layout/IconVerticalSolidList"/>
    <dgm:cxn modelId="{2FD0949E-6D19-4337-83CE-D57D97162DFB}" type="presParOf" srcId="{0D4FFE00-1BC2-4BCE-B476-0B1427EF32C5}" destId="{65585322-4974-4EDA-9865-15EE6E9BD7C3}" srcOrd="3" destOrd="0" presId="urn:microsoft.com/office/officeart/2018/2/layout/IconVerticalSolidList"/>
    <dgm:cxn modelId="{400F7FA2-2B23-4B33-AD26-A9D16EFB7C7E}" type="presParOf" srcId="{5FCC1F20-8DA4-4C27-9476-296484FD8CC5}" destId="{D32A6E91-D69C-47AE-8BD9-D7954A3C0AE1}" srcOrd="3" destOrd="0" presId="urn:microsoft.com/office/officeart/2018/2/layout/IconVerticalSolidList"/>
    <dgm:cxn modelId="{7E6F1D8E-22EC-45A4-B29E-3CCBD951BDA1}" type="presParOf" srcId="{5FCC1F20-8DA4-4C27-9476-296484FD8CC5}" destId="{400C03E4-FED1-4A73-9D54-2F0A40EF5BE7}" srcOrd="4" destOrd="0" presId="urn:microsoft.com/office/officeart/2018/2/layout/IconVerticalSolidList"/>
    <dgm:cxn modelId="{5A7D0A9A-C8C7-43E9-AE29-53A629342C30}" type="presParOf" srcId="{400C03E4-FED1-4A73-9D54-2F0A40EF5BE7}" destId="{2BC27D04-9940-4994-A367-3C61B3246D30}" srcOrd="0" destOrd="0" presId="urn:microsoft.com/office/officeart/2018/2/layout/IconVerticalSolidList"/>
    <dgm:cxn modelId="{43EE0115-D44C-4E48-8F50-3BD9AA914E51}" type="presParOf" srcId="{400C03E4-FED1-4A73-9D54-2F0A40EF5BE7}" destId="{6D6B362D-DCC3-403A-9B7D-4E0C3038C13B}" srcOrd="1" destOrd="0" presId="urn:microsoft.com/office/officeart/2018/2/layout/IconVerticalSolidList"/>
    <dgm:cxn modelId="{6EB956D7-2657-4C47-8827-89A980A83933}" type="presParOf" srcId="{400C03E4-FED1-4A73-9D54-2F0A40EF5BE7}" destId="{C6BA074A-7B14-4735-86AD-1E4FAB91702B}" srcOrd="2" destOrd="0" presId="urn:microsoft.com/office/officeart/2018/2/layout/IconVerticalSolidList"/>
    <dgm:cxn modelId="{F4F947FB-D14C-4686-A485-0F52B55B36F8}" type="presParOf" srcId="{400C03E4-FED1-4A73-9D54-2F0A40EF5BE7}" destId="{161625D9-0ECF-4A20-BED8-96E8E69E777A}" srcOrd="3" destOrd="0" presId="urn:microsoft.com/office/officeart/2018/2/layout/IconVerticalSolidList"/>
    <dgm:cxn modelId="{4BF43459-5D6D-45C6-ADF3-4F82AA572F05}" type="presParOf" srcId="{5FCC1F20-8DA4-4C27-9476-296484FD8CC5}" destId="{FAEC2232-20A5-44CF-8531-FF2F90AACEB7}" srcOrd="5" destOrd="0" presId="urn:microsoft.com/office/officeart/2018/2/layout/IconVerticalSolidList"/>
    <dgm:cxn modelId="{7FA91429-61B1-4BC5-A223-ACA715B5BBD7}" type="presParOf" srcId="{5FCC1F20-8DA4-4C27-9476-296484FD8CC5}" destId="{4BEB9F11-E0F5-401B-A43B-2A14B9C2F668}" srcOrd="6" destOrd="0" presId="urn:microsoft.com/office/officeart/2018/2/layout/IconVerticalSolidList"/>
    <dgm:cxn modelId="{4F01B160-7BD9-4A5B-BDC6-2259139697FC}" type="presParOf" srcId="{4BEB9F11-E0F5-401B-A43B-2A14B9C2F668}" destId="{1B2F4D4A-D756-4348-99B4-08C7F236E266}" srcOrd="0" destOrd="0" presId="urn:microsoft.com/office/officeart/2018/2/layout/IconVerticalSolidList"/>
    <dgm:cxn modelId="{0AD0429D-2362-47BF-824C-67CF3E9A0FDE}" type="presParOf" srcId="{4BEB9F11-E0F5-401B-A43B-2A14B9C2F668}" destId="{D8732F89-9E62-43AA-BC3E-09BFE16A6161}" srcOrd="1" destOrd="0" presId="urn:microsoft.com/office/officeart/2018/2/layout/IconVerticalSolidList"/>
    <dgm:cxn modelId="{DDE9D6DC-EFBB-4183-9578-75B045DC6332}" type="presParOf" srcId="{4BEB9F11-E0F5-401B-A43B-2A14B9C2F668}" destId="{AD82F348-2C10-4C85-8A69-3DA5B8FE0911}" srcOrd="2" destOrd="0" presId="urn:microsoft.com/office/officeart/2018/2/layout/IconVerticalSolidList"/>
    <dgm:cxn modelId="{36996659-A3C0-40FF-A2B8-71B1713FF68B}" type="presParOf" srcId="{4BEB9F11-E0F5-401B-A43B-2A14B9C2F668}" destId="{5819272D-3094-4DEC-9165-B7F9F21492B4}"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1943F3-4F67-46D3-8FD8-F2B6F8D40E02}">
      <dsp:nvSpPr>
        <dsp:cNvPr id="0" name=""/>
        <dsp:cNvSpPr/>
      </dsp:nvSpPr>
      <dsp:spPr>
        <a:xfrm>
          <a:off x="0" y="403625"/>
          <a:ext cx="5955658" cy="626062"/>
        </a:xfrm>
        <a:prstGeom prst="rect">
          <a:avLst/>
        </a:prstGeom>
        <a:solidFill>
          <a:schemeClr val="lt1">
            <a:alpha val="90000"/>
            <a:hueOff val="0"/>
            <a:satOff val="0"/>
            <a:lumOff val="0"/>
            <a:alphaOff val="0"/>
          </a:schemeClr>
        </a:solidFill>
        <a:ln w="9525" cap="flat" cmpd="sng" algn="ctr">
          <a:solidFill>
            <a:schemeClr val="accent6">
              <a:shade val="5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62225" tIns="312420" rIns="462225"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latin typeface="+mn-lt"/>
            </a:rPr>
            <a:t>Determine customer satisfaction factors</a:t>
          </a:r>
        </a:p>
      </dsp:txBody>
      <dsp:txXfrm>
        <a:off x="0" y="403625"/>
        <a:ext cx="5955658" cy="626062"/>
      </dsp:txXfrm>
    </dsp:sp>
    <dsp:sp modelId="{10DB641A-7AC6-4427-BCE8-18CE1B99114C}">
      <dsp:nvSpPr>
        <dsp:cNvPr id="0" name=""/>
        <dsp:cNvSpPr/>
      </dsp:nvSpPr>
      <dsp:spPr>
        <a:xfrm>
          <a:off x="297782" y="182225"/>
          <a:ext cx="4168960" cy="442800"/>
        </a:xfrm>
        <a:prstGeom prst="roundRect">
          <a:avLst/>
        </a:prstGeom>
        <a:solidFill>
          <a:schemeClr val="bg2">
            <a:lumMod val="50000"/>
          </a:schemeClr>
        </a:solidFill>
        <a:ln>
          <a:solidFill>
            <a:schemeClr val="bg2">
              <a:lumMod val="50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157577" tIns="0" rIns="157577" bIns="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mn-lt"/>
            </a:rPr>
            <a:t>Purpose:</a:t>
          </a:r>
        </a:p>
      </dsp:txBody>
      <dsp:txXfrm>
        <a:off x="319398" y="203841"/>
        <a:ext cx="4125728" cy="399568"/>
      </dsp:txXfrm>
    </dsp:sp>
    <dsp:sp modelId="{FE9A586B-C2A5-4C37-8787-7C33E87495DF}">
      <dsp:nvSpPr>
        <dsp:cNvPr id="0" name=""/>
        <dsp:cNvSpPr/>
      </dsp:nvSpPr>
      <dsp:spPr>
        <a:xfrm>
          <a:off x="0" y="1332087"/>
          <a:ext cx="5955658" cy="626062"/>
        </a:xfrm>
        <a:prstGeom prst="rect">
          <a:avLst/>
        </a:prstGeom>
        <a:solidFill>
          <a:schemeClr val="lt1">
            <a:alpha val="90000"/>
            <a:hueOff val="0"/>
            <a:satOff val="0"/>
            <a:lumOff val="0"/>
            <a:alphaOff val="0"/>
          </a:schemeClr>
        </a:solidFill>
        <a:ln w="9525" cap="flat" cmpd="sng" algn="ctr">
          <a:solidFill>
            <a:schemeClr val="accent6">
              <a:shade val="50000"/>
              <a:hueOff val="-104837"/>
              <a:satOff val="17816"/>
              <a:lumOff val="1506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62225" tIns="312420" rIns="462225"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latin typeface="+mn-lt"/>
            </a:rPr>
            <a:t>Focus Group &amp; Survey</a:t>
          </a:r>
        </a:p>
      </dsp:txBody>
      <dsp:txXfrm>
        <a:off x="0" y="1332087"/>
        <a:ext cx="5955658" cy="626062"/>
      </dsp:txXfrm>
    </dsp:sp>
    <dsp:sp modelId="{7397F830-BAA3-4E08-BFDB-19B3DCAF12F4}">
      <dsp:nvSpPr>
        <dsp:cNvPr id="0" name=""/>
        <dsp:cNvSpPr/>
      </dsp:nvSpPr>
      <dsp:spPr>
        <a:xfrm>
          <a:off x="297782" y="1110687"/>
          <a:ext cx="4168960" cy="442800"/>
        </a:xfrm>
        <a:prstGeom prst="roundRect">
          <a:avLst/>
        </a:prstGeom>
        <a:solidFill>
          <a:schemeClr val="bg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7577" tIns="0" rIns="157577" bIns="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mn-lt"/>
            </a:rPr>
            <a:t>Methodology:</a:t>
          </a:r>
        </a:p>
      </dsp:txBody>
      <dsp:txXfrm>
        <a:off x="319398" y="1132303"/>
        <a:ext cx="4125728" cy="399568"/>
      </dsp:txXfrm>
    </dsp:sp>
    <dsp:sp modelId="{B07A2989-622D-4D48-B249-8C7E273351D1}">
      <dsp:nvSpPr>
        <dsp:cNvPr id="0" name=""/>
        <dsp:cNvSpPr/>
      </dsp:nvSpPr>
      <dsp:spPr>
        <a:xfrm>
          <a:off x="0" y="2260550"/>
          <a:ext cx="5955658" cy="874125"/>
        </a:xfrm>
        <a:prstGeom prst="rect">
          <a:avLst/>
        </a:prstGeom>
        <a:solidFill>
          <a:schemeClr val="lt1">
            <a:alpha val="90000"/>
            <a:hueOff val="0"/>
            <a:satOff val="0"/>
            <a:lumOff val="0"/>
            <a:alphaOff val="0"/>
          </a:schemeClr>
        </a:solidFill>
        <a:ln w="9525" cap="flat" cmpd="sng" algn="ctr">
          <a:solidFill>
            <a:schemeClr val="accent6">
              <a:shade val="50000"/>
              <a:hueOff val="-209674"/>
              <a:satOff val="35632"/>
              <a:lumOff val="30132"/>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62225" tIns="312420" rIns="462225"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latin typeface="+mn-lt"/>
            </a:rPr>
            <a:t>Overall experience: atmosphere; knowledgeable staff</a:t>
          </a:r>
        </a:p>
        <a:p>
          <a:pPr marL="114300" lvl="1" indent="-114300" algn="l" defTabSz="666750">
            <a:lnSpc>
              <a:spcPct val="90000"/>
            </a:lnSpc>
            <a:spcBef>
              <a:spcPct val="0"/>
            </a:spcBef>
            <a:spcAft>
              <a:spcPct val="15000"/>
            </a:spcAft>
            <a:buChar char="•"/>
          </a:pPr>
          <a:r>
            <a:rPr lang="en-US" sz="1500" kern="1200" dirty="0">
              <a:latin typeface="+mn-lt"/>
            </a:rPr>
            <a:t>Diversity and quality of cheeses</a:t>
          </a:r>
        </a:p>
      </dsp:txBody>
      <dsp:txXfrm>
        <a:off x="0" y="2260550"/>
        <a:ext cx="5955658" cy="874125"/>
      </dsp:txXfrm>
    </dsp:sp>
    <dsp:sp modelId="{918EE3F2-AC14-4F1C-8B36-A3B0380270B1}">
      <dsp:nvSpPr>
        <dsp:cNvPr id="0" name=""/>
        <dsp:cNvSpPr/>
      </dsp:nvSpPr>
      <dsp:spPr>
        <a:xfrm>
          <a:off x="297782" y="2039150"/>
          <a:ext cx="4168960" cy="442800"/>
        </a:xfrm>
        <a:prstGeom prst="roundRect">
          <a:avLst/>
        </a:prstGeom>
        <a:gradFill rotWithShape="0">
          <a:gsLst>
            <a:gs pos="0">
              <a:schemeClr val="accent6">
                <a:shade val="50000"/>
                <a:hueOff val="-209674"/>
                <a:satOff val="35632"/>
                <a:lumOff val="30132"/>
                <a:alphaOff val="0"/>
                <a:tint val="94000"/>
                <a:satMod val="103000"/>
                <a:lumMod val="102000"/>
              </a:schemeClr>
            </a:gs>
            <a:gs pos="50000">
              <a:schemeClr val="accent6">
                <a:shade val="50000"/>
                <a:hueOff val="-209674"/>
                <a:satOff val="35632"/>
                <a:lumOff val="30132"/>
                <a:alphaOff val="0"/>
                <a:shade val="100000"/>
                <a:satMod val="110000"/>
                <a:lumMod val="100000"/>
              </a:schemeClr>
            </a:gs>
            <a:gs pos="100000">
              <a:schemeClr val="accent6">
                <a:shade val="50000"/>
                <a:hueOff val="-209674"/>
                <a:satOff val="35632"/>
                <a:lumOff val="30132"/>
                <a:alphaOff val="0"/>
                <a:shade val="78000"/>
                <a:satMod val="12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7577" tIns="0" rIns="157577" bIns="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mn-lt"/>
            </a:rPr>
            <a:t>Qualitative Insights: </a:t>
          </a:r>
        </a:p>
      </dsp:txBody>
      <dsp:txXfrm>
        <a:off x="319398" y="2060766"/>
        <a:ext cx="4125728" cy="399568"/>
      </dsp:txXfrm>
    </dsp:sp>
    <dsp:sp modelId="{A9CB43E4-71EE-4E1D-BF0B-FF058F52D249}">
      <dsp:nvSpPr>
        <dsp:cNvPr id="0" name=""/>
        <dsp:cNvSpPr/>
      </dsp:nvSpPr>
      <dsp:spPr>
        <a:xfrm>
          <a:off x="0" y="3437075"/>
          <a:ext cx="5955658" cy="1323000"/>
        </a:xfrm>
        <a:prstGeom prst="rect">
          <a:avLst/>
        </a:prstGeom>
        <a:solidFill>
          <a:schemeClr val="lt1">
            <a:alpha val="90000"/>
            <a:hueOff val="0"/>
            <a:satOff val="0"/>
            <a:lumOff val="0"/>
            <a:alphaOff val="0"/>
          </a:schemeClr>
        </a:solidFill>
        <a:ln w="9525" cap="flat" cmpd="sng" algn="ctr">
          <a:solidFill>
            <a:schemeClr val="accent6">
              <a:shade val="50000"/>
              <a:hueOff val="-209674"/>
              <a:satOff val="35632"/>
              <a:lumOff val="30132"/>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62225" tIns="312420" rIns="462225"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latin typeface="+mn-lt"/>
            </a:rPr>
            <a:t>Selection of Cheeses		</a:t>
          </a:r>
          <a:r>
            <a:rPr lang="en-US" sz="1500" kern="1200" dirty="0">
              <a:latin typeface="+mn-lt"/>
              <a:cs typeface="Times New Roman" panose="02020603050405020304" pitchFamily="18" charset="0"/>
            </a:rPr>
            <a:t>• </a:t>
          </a:r>
          <a:r>
            <a:rPr lang="en-US" sz="1500" kern="1200" dirty="0">
              <a:latin typeface="+mn-lt"/>
            </a:rPr>
            <a:t>Overall Satisfaction</a:t>
          </a:r>
        </a:p>
        <a:p>
          <a:pPr marL="114300" lvl="1" indent="-114300" algn="l" defTabSz="666750">
            <a:lnSpc>
              <a:spcPct val="90000"/>
            </a:lnSpc>
            <a:spcBef>
              <a:spcPct val="0"/>
            </a:spcBef>
            <a:spcAft>
              <a:spcPct val="15000"/>
            </a:spcAft>
            <a:buChar char="•"/>
            <a:tabLst>
              <a:tab pos="1200150" algn="l"/>
              <a:tab pos="1314450" algn="l"/>
              <a:tab pos="1657350" algn="l"/>
            </a:tabLst>
          </a:pPr>
          <a:r>
            <a:rPr lang="en-US" sz="1500" kern="1200" dirty="0">
              <a:latin typeface="+mn-lt"/>
            </a:rPr>
            <a:t>Key Factors:</a:t>
          </a:r>
        </a:p>
        <a:p>
          <a:pPr marL="228600" lvl="2" indent="-114300" algn="l" defTabSz="666750">
            <a:lnSpc>
              <a:spcPct val="90000"/>
            </a:lnSpc>
            <a:spcBef>
              <a:spcPct val="0"/>
            </a:spcBef>
            <a:spcAft>
              <a:spcPct val="15000"/>
            </a:spcAft>
            <a:buChar char="•"/>
          </a:pPr>
          <a:r>
            <a:rPr lang="en-US" sz="1500" kern="1200" dirty="0">
              <a:latin typeface="+mn-lt"/>
            </a:rPr>
            <a:t>Age</a:t>
          </a:r>
        </a:p>
        <a:p>
          <a:pPr marL="228600" lvl="2" indent="-114300" algn="l" defTabSz="666750">
            <a:lnSpc>
              <a:spcPct val="90000"/>
            </a:lnSpc>
            <a:spcBef>
              <a:spcPct val="0"/>
            </a:spcBef>
            <a:spcAft>
              <a:spcPct val="15000"/>
            </a:spcAft>
            <a:buChar char="•"/>
          </a:pPr>
          <a:r>
            <a:rPr lang="en-US" sz="1500" kern="1200" dirty="0">
              <a:latin typeface="+mn-lt"/>
            </a:rPr>
            <a:t>Gender</a:t>
          </a:r>
        </a:p>
      </dsp:txBody>
      <dsp:txXfrm>
        <a:off x="0" y="3437075"/>
        <a:ext cx="5955658" cy="1323000"/>
      </dsp:txXfrm>
    </dsp:sp>
    <dsp:sp modelId="{47D9F50C-29BB-4F73-9E7A-3A3E3B7897A4}">
      <dsp:nvSpPr>
        <dsp:cNvPr id="0" name=""/>
        <dsp:cNvSpPr/>
      </dsp:nvSpPr>
      <dsp:spPr>
        <a:xfrm>
          <a:off x="297782" y="3215675"/>
          <a:ext cx="4168960" cy="442800"/>
        </a:xfrm>
        <a:prstGeom prst="roundRect">
          <a:avLst/>
        </a:prstGeom>
        <a:solidFill>
          <a:schemeClr val="bg2">
            <a:lumMod val="40000"/>
            <a:lumOff val="60000"/>
          </a:schemeClr>
        </a:solidFill>
        <a:ln>
          <a:solidFill>
            <a:schemeClr val="bg2">
              <a:lumMod val="40000"/>
              <a:lumOff val="60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157577" tIns="0" rIns="157577" bIns="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mn-lt"/>
            </a:rPr>
            <a:t>Survey Analysis:</a:t>
          </a:r>
        </a:p>
      </dsp:txBody>
      <dsp:txXfrm>
        <a:off x="319398" y="3237291"/>
        <a:ext cx="4125728" cy="399568"/>
      </dsp:txXfrm>
    </dsp:sp>
    <dsp:sp modelId="{41CEC2B3-3F1E-481B-970F-F2865299C7FA}">
      <dsp:nvSpPr>
        <dsp:cNvPr id="0" name=""/>
        <dsp:cNvSpPr/>
      </dsp:nvSpPr>
      <dsp:spPr>
        <a:xfrm>
          <a:off x="0" y="5062475"/>
          <a:ext cx="5955658" cy="897750"/>
        </a:xfrm>
        <a:prstGeom prst="rect">
          <a:avLst/>
        </a:prstGeom>
        <a:solidFill>
          <a:schemeClr val="lt1">
            <a:alpha val="90000"/>
            <a:hueOff val="0"/>
            <a:satOff val="0"/>
            <a:lumOff val="0"/>
            <a:alphaOff val="0"/>
          </a:schemeClr>
        </a:solidFill>
        <a:ln w="9525" cap="flat" cmpd="sng" algn="ctr">
          <a:solidFill>
            <a:schemeClr val="accent6">
              <a:shade val="50000"/>
              <a:hueOff val="-104837"/>
              <a:satOff val="17816"/>
              <a:lumOff val="1506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62225" tIns="312420" rIns="462225" bIns="106680" numCol="1" spcCol="1270" anchor="t" anchorCtr="0">
          <a:noAutofit/>
        </a:bodyPr>
        <a:lstStyle/>
        <a:p>
          <a:pPr marL="114300" lvl="1" indent="-114300" algn="l" defTabSz="666750">
            <a:lnSpc>
              <a:spcPct val="100000"/>
            </a:lnSpc>
            <a:spcBef>
              <a:spcPct val="0"/>
            </a:spcBef>
            <a:spcAft>
              <a:spcPct val="15000"/>
            </a:spcAft>
            <a:buChar char="•"/>
          </a:pPr>
          <a:r>
            <a:rPr lang="en-US" sz="1500" kern="1200" dirty="0">
              <a:latin typeface="+mn-lt"/>
            </a:rPr>
            <a:t>Increase selection of cheeses</a:t>
          </a:r>
        </a:p>
        <a:p>
          <a:pPr marL="114300" lvl="1" indent="-114300" algn="l" defTabSz="666750">
            <a:lnSpc>
              <a:spcPct val="100000"/>
            </a:lnSpc>
            <a:spcBef>
              <a:spcPct val="0"/>
            </a:spcBef>
            <a:spcAft>
              <a:spcPct val="15000"/>
            </a:spcAft>
            <a:buChar char="•"/>
          </a:pPr>
          <a:r>
            <a:rPr lang="en-US" sz="1500" kern="1200" dirty="0">
              <a:latin typeface="+mn-lt"/>
            </a:rPr>
            <a:t>Price Changes</a:t>
          </a:r>
        </a:p>
      </dsp:txBody>
      <dsp:txXfrm>
        <a:off x="0" y="5062475"/>
        <a:ext cx="5955658" cy="897750"/>
      </dsp:txXfrm>
    </dsp:sp>
    <dsp:sp modelId="{870C38D5-9163-4E0A-9073-C6A82BC95511}">
      <dsp:nvSpPr>
        <dsp:cNvPr id="0" name=""/>
        <dsp:cNvSpPr/>
      </dsp:nvSpPr>
      <dsp:spPr>
        <a:xfrm>
          <a:off x="297782" y="4841075"/>
          <a:ext cx="4168960" cy="442800"/>
        </a:xfrm>
        <a:prstGeom prst="roundRect">
          <a:avLst/>
        </a:prstGeom>
        <a:solidFill>
          <a:schemeClr val="bg2">
            <a:lumMod val="60000"/>
            <a:lumOff val="40000"/>
          </a:schemeClr>
        </a:solidFill>
        <a:ln>
          <a:solidFill>
            <a:schemeClr val="bg2">
              <a:lumMod val="60000"/>
              <a:lumOff val="40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157577" tIns="0" rIns="157577" bIns="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mn-lt"/>
            </a:rPr>
            <a:t>Recommendations:</a:t>
          </a:r>
        </a:p>
      </dsp:txBody>
      <dsp:txXfrm>
        <a:off x="319398" y="4862691"/>
        <a:ext cx="4125728" cy="3995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38C749-0F1A-4D57-B227-5A8ADEEC8E71}">
      <dsp:nvSpPr>
        <dsp:cNvPr id="0" name=""/>
        <dsp:cNvSpPr/>
      </dsp:nvSpPr>
      <dsp:spPr>
        <a:xfrm>
          <a:off x="0" y="2315"/>
          <a:ext cx="6261100" cy="117344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4CB969-595C-41D1-A64B-241C3770ADE7}">
      <dsp:nvSpPr>
        <dsp:cNvPr id="0" name=""/>
        <dsp:cNvSpPr/>
      </dsp:nvSpPr>
      <dsp:spPr>
        <a:xfrm>
          <a:off x="354965" y="266339"/>
          <a:ext cx="645392" cy="6453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B6C5798-BD3F-48CF-AE13-99B041DD136D}">
      <dsp:nvSpPr>
        <dsp:cNvPr id="0" name=""/>
        <dsp:cNvSpPr/>
      </dsp:nvSpPr>
      <dsp:spPr>
        <a:xfrm>
          <a:off x="1355324" y="2315"/>
          <a:ext cx="4905775" cy="1173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189" tIns="124189" rIns="124189" bIns="124189" numCol="1" spcCol="1270" anchor="ctr" anchorCtr="0">
          <a:noAutofit/>
        </a:bodyPr>
        <a:lstStyle/>
        <a:p>
          <a:pPr marL="0" lvl="0" indent="0" algn="l" defTabSz="889000">
            <a:lnSpc>
              <a:spcPct val="100000"/>
            </a:lnSpc>
            <a:spcBef>
              <a:spcPct val="0"/>
            </a:spcBef>
            <a:spcAft>
              <a:spcPct val="35000"/>
            </a:spcAft>
            <a:buNone/>
          </a:pPr>
          <a:r>
            <a:rPr lang="en-US" sz="2000" kern="1200" dirty="0"/>
            <a:t>What is the overall satisfaction with the customer experience provided at International Cheese Shop?</a:t>
          </a:r>
        </a:p>
      </dsp:txBody>
      <dsp:txXfrm>
        <a:off x="1355324" y="2315"/>
        <a:ext cx="4905775" cy="1173440"/>
      </dsp:txXfrm>
    </dsp:sp>
    <dsp:sp modelId="{3066EFF6-93DB-4FF7-912A-7EE448CC87AA}">
      <dsp:nvSpPr>
        <dsp:cNvPr id="0" name=""/>
        <dsp:cNvSpPr/>
      </dsp:nvSpPr>
      <dsp:spPr>
        <a:xfrm>
          <a:off x="0" y="1469116"/>
          <a:ext cx="6261100" cy="117344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72307D-B7B9-4AE4-8250-B76BFF3611AC}">
      <dsp:nvSpPr>
        <dsp:cNvPr id="0" name=""/>
        <dsp:cNvSpPr/>
      </dsp:nvSpPr>
      <dsp:spPr>
        <a:xfrm>
          <a:off x="354965" y="1733140"/>
          <a:ext cx="645392" cy="64539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5585322-4974-4EDA-9865-15EE6E9BD7C3}">
      <dsp:nvSpPr>
        <dsp:cNvPr id="0" name=""/>
        <dsp:cNvSpPr/>
      </dsp:nvSpPr>
      <dsp:spPr>
        <a:xfrm>
          <a:off x="1355324" y="1469116"/>
          <a:ext cx="4905775" cy="1173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189" tIns="124189" rIns="124189" bIns="124189" numCol="1" spcCol="1270" anchor="ctr" anchorCtr="0">
          <a:noAutofit/>
        </a:bodyPr>
        <a:lstStyle/>
        <a:p>
          <a:pPr marL="0" lvl="0" indent="0" algn="l" defTabSz="889000">
            <a:lnSpc>
              <a:spcPct val="100000"/>
            </a:lnSpc>
            <a:spcBef>
              <a:spcPct val="0"/>
            </a:spcBef>
            <a:spcAft>
              <a:spcPct val="35000"/>
            </a:spcAft>
            <a:buNone/>
          </a:pPr>
          <a:r>
            <a:rPr lang="en-US" sz="2000" kern="1200" dirty="0"/>
            <a:t>Is International Cheese Shop meeting customer expectations regarding the selection of cheeses being offered?</a:t>
          </a:r>
        </a:p>
      </dsp:txBody>
      <dsp:txXfrm>
        <a:off x="1355324" y="1469116"/>
        <a:ext cx="4905775" cy="1173440"/>
      </dsp:txXfrm>
    </dsp:sp>
    <dsp:sp modelId="{2BC27D04-9940-4994-A367-3C61B3246D30}">
      <dsp:nvSpPr>
        <dsp:cNvPr id="0" name=""/>
        <dsp:cNvSpPr/>
      </dsp:nvSpPr>
      <dsp:spPr>
        <a:xfrm>
          <a:off x="0" y="2935917"/>
          <a:ext cx="6261100" cy="117344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6B362D-DCC3-403A-9B7D-4E0C3038C13B}">
      <dsp:nvSpPr>
        <dsp:cNvPr id="0" name=""/>
        <dsp:cNvSpPr/>
      </dsp:nvSpPr>
      <dsp:spPr>
        <a:xfrm>
          <a:off x="354965" y="3199941"/>
          <a:ext cx="645392" cy="6453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61625D9-0ECF-4A20-BED8-96E8E69E777A}">
      <dsp:nvSpPr>
        <dsp:cNvPr id="0" name=""/>
        <dsp:cNvSpPr/>
      </dsp:nvSpPr>
      <dsp:spPr>
        <a:xfrm>
          <a:off x="1355324" y="2935917"/>
          <a:ext cx="4905775" cy="1173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189" tIns="124189" rIns="124189" bIns="124189" numCol="1" spcCol="1270" anchor="ctr" anchorCtr="0">
          <a:noAutofit/>
        </a:bodyPr>
        <a:lstStyle/>
        <a:p>
          <a:pPr marL="0" lvl="0" indent="0" algn="l" defTabSz="889000">
            <a:lnSpc>
              <a:spcPct val="100000"/>
            </a:lnSpc>
            <a:spcBef>
              <a:spcPct val="0"/>
            </a:spcBef>
            <a:spcAft>
              <a:spcPct val="35000"/>
            </a:spcAft>
            <a:buNone/>
          </a:pPr>
          <a:r>
            <a:rPr lang="en-US" sz="2000" kern="1200" dirty="0"/>
            <a:t>Are customers generally satisfied with the service being provided by the staff?</a:t>
          </a:r>
        </a:p>
      </dsp:txBody>
      <dsp:txXfrm>
        <a:off x="1355324" y="2935917"/>
        <a:ext cx="4905775" cy="1173440"/>
      </dsp:txXfrm>
    </dsp:sp>
    <dsp:sp modelId="{1B2F4D4A-D756-4348-99B4-08C7F236E266}">
      <dsp:nvSpPr>
        <dsp:cNvPr id="0" name=""/>
        <dsp:cNvSpPr/>
      </dsp:nvSpPr>
      <dsp:spPr>
        <a:xfrm>
          <a:off x="0" y="4402718"/>
          <a:ext cx="6261100" cy="117344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732F89-9E62-43AA-BC3E-09BFE16A6161}">
      <dsp:nvSpPr>
        <dsp:cNvPr id="0" name=""/>
        <dsp:cNvSpPr/>
      </dsp:nvSpPr>
      <dsp:spPr>
        <a:xfrm>
          <a:off x="354965" y="4666742"/>
          <a:ext cx="645392" cy="64539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19272D-3094-4DEC-9165-B7F9F21492B4}">
      <dsp:nvSpPr>
        <dsp:cNvPr id="0" name=""/>
        <dsp:cNvSpPr/>
      </dsp:nvSpPr>
      <dsp:spPr>
        <a:xfrm>
          <a:off x="1355324" y="4402718"/>
          <a:ext cx="4905775" cy="1173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189" tIns="124189" rIns="124189" bIns="124189" numCol="1" spcCol="1270" anchor="ctr" anchorCtr="0">
          <a:noAutofit/>
        </a:bodyPr>
        <a:lstStyle/>
        <a:p>
          <a:pPr marL="0" lvl="0" indent="0" algn="l" defTabSz="889000">
            <a:lnSpc>
              <a:spcPct val="100000"/>
            </a:lnSpc>
            <a:spcBef>
              <a:spcPct val="0"/>
            </a:spcBef>
            <a:spcAft>
              <a:spcPct val="35000"/>
            </a:spcAft>
            <a:buNone/>
          </a:pPr>
          <a:r>
            <a:rPr lang="en-US" sz="2000" kern="1200" dirty="0"/>
            <a:t>Are there any additional services that customers want that are not being offered?</a:t>
          </a:r>
        </a:p>
      </dsp:txBody>
      <dsp:txXfrm>
        <a:off x="1355324" y="4402718"/>
        <a:ext cx="4905775" cy="117344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F28B8350-20B3-4BE3-821C-4897C09E261B}" type="datetimeFigureOut">
              <a:rPr lang="en-US" smtClean="0"/>
              <a:t>8/21/2024</a:t>
            </a:fld>
            <a:endParaRPr lang="en-US" dirty="0"/>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76F53CAE-8DE8-4354-933D-804BFA6ED371}" type="slidenum">
              <a:rPr lang="en-US" smtClean="0"/>
              <a:t>‹#›</a:t>
            </a:fld>
            <a:endParaRPr lang="en-US" dirty="0"/>
          </a:p>
        </p:txBody>
      </p:sp>
    </p:spTree>
    <p:extLst>
      <p:ext uri="{BB962C8B-B14F-4D97-AF65-F5344CB8AC3E}">
        <p14:creationId xmlns:p14="http://schemas.microsoft.com/office/powerpoint/2010/main" val="979822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team, I hope everyone is doing well today. </a:t>
            </a:r>
          </a:p>
          <a:p>
            <a:endParaRPr lang="en-US" dirty="0"/>
          </a:p>
          <a:p>
            <a:r>
              <a:rPr lang="en-US" dirty="0"/>
              <a:t>Today we are going to be reviewing the research study on our client, International Cheese Shop.</a:t>
            </a:r>
          </a:p>
        </p:txBody>
      </p:sp>
      <p:sp>
        <p:nvSpPr>
          <p:cNvPr id="4" name="Slide Number Placeholder 3"/>
          <p:cNvSpPr>
            <a:spLocks noGrp="1"/>
          </p:cNvSpPr>
          <p:nvPr>
            <p:ph type="sldNum" sz="quarter" idx="5"/>
          </p:nvPr>
        </p:nvSpPr>
        <p:spPr/>
        <p:txBody>
          <a:bodyPr/>
          <a:lstStyle/>
          <a:p>
            <a:fld id="{76F53CAE-8DE8-4354-933D-804BFA6ED371}" type="slidenum">
              <a:rPr lang="en-US" smtClean="0"/>
              <a:t>1</a:t>
            </a:fld>
            <a:endParaRPr lang="en-US" dirty="0"/>
          </a:p>
        </p:txBody>
      </p:sp>
    </p:spTree>
    <p:extLst>
      <p:ext uri="{BB962C8B-B14F-4D97-AF65-F5344CB8AC3E}">
        <p14:creationId xmlns:p14="http://schemas.microsoft.com/office/powerpoint/2010/main" val="42709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purpose of this study was to determine customer satisfaction factors for International Cheese Shop.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Two methodologies were used: a focus group and a survey. </a:t>
            </a:r>
          </a:p>
          <a:p>
            <a:endParaRPr lang="en-US" dirty="0"/>
          </a:p>
          <a:p>
            <a:r>
              <a:rPr lang="en-US" dirty="0"/>
              <a:t>From the focus group results, one key insight is the overall experience within International Cheese Shop and how customers value atmosphere and knowledgeable staff. </a:t>
            </a:r>
          </a:p>
          <a:p>
            <a:r>
              <a:rPr lang="en-US" dirty="0"/>
              <a:t>Another insight is the diversity and quality of cheese selection within the cheese shop and how this leads to meeting customer expectations when visiting. </a:t>
            </a:r>
          </a:p>
          <a:p>
            <a:endParaRPr lang="en-US" dirty="0"/>
          </a:p>
          <a:p>
            <a:r>
              <a:rPr lang="en-US" dirty="0"/>
              <a:t>From the survey results, one insight is how the selection of cheeses plays a factor in International Cheese Shop’s target market, such as age and gender. </a:t>
            </a:r>
          </a:p>
          <a:p>
            <a:r>
              <a:rPr lang="en-US" dirty="0"/>
              <a:t>Another insight is how the overall satisfaction of services, such as location and friendly staff, play a key factor when customers visit International Cheese Shop.</a:t>
            </a:r>
          </a:p>
          <a:p>
            <a:endParaRPr lang="en-US" dirty="0"/>
          </a:p>
          <a:p>
            <a:r>
              <a:rPr lang="en-US" dirty="0"/>
              <a:t>Recommendations given to International Cheese Shop would be to increase their selection of cheeses and change prices of some of the cheeses they offer. </a:t>
            </a:r>
          </a:p>
          <a:p>
            <a:endParaRPr lang="en-US" dirty="0"/>
          </a:p>
          <a:p>
            <a:r>
              <a:rPr lang="en-US" dirty="0"/>
              <a:t>The findings from this research study are important as it will determine what factors International Cheese Shop should focus on to stay competitive in the industry, regardless of any new competition that enters the market. </a:t>
            </a:r>
          </a:p>
          <a:p>
            <a:endParaRPr lang="en-US" dirty="0"/>
          </a:p>
          <a:p>
            <a:endParaRPr lang="en-US" dirty="0"/>
          </a:p>
        </p:txBody>
      </p:sp>
      <p:sp>
        <p:nvSpPr>
          <p:cNvPr id="4" name="Slide Number Placeholder 3"/>
          <p:cNvSpPr>
            <a:spLocks noGrp="1"/>
          </p:cNvSpPr>
          <p:nvPr>
            <p:ph type="sldNum" sz="quarter" idx="5"/>
          </p:nvPr>
        </p:nvSpPr>
        <p:spPr/>
        <p:txBody>
          <a:bodyPr/>
          <a:lstStyle/>
          <a:p>
            <a:fld id="{76F53CAE-8DE8-4354-933D-804BFA6ED371}" type="slidenum">
              <a:rPr lang="en-US" smtClean="0"/>
              <a:t>2</a:t>
            </a:fld>
            <a:endParaRPr lang="en-US" dirty="0"/>
          </a:p>
        </p:txBody>
      </p:sp>
    </p:spTree>
    <p:extLst>
      <p:ext uri="{BB962C8B-B14F-4D97-AF65-F5344CB8AC3E}">
        <p14:creationId xmlns:p14="http://schemas.microsoft.com/office/powerpoint/2010/main" val="1954958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International Cheese Shop has been a local San Francisco purveyor of specialty cheeses. Once the owners heard about two new cheese shops that were opening in the area, they wanted to know if their store would remain competitive in the new market. </a:t>
            </a:r>
          </a:p>
          <a:p>
            <a:endParaRPr lang="en-US" dirty="0"/>
          </a:p>
          <a:p>
            <a:r>
              <a:rPr lang="en-US" dirty="0"/>
              <a:t>Their problems that they identified were to evaluate the overall customer satisfaction with the shop. The owners also wanted to know if there were areas that needed improvements such as upgrading service performance and/or offering additional services to customers. </a:t>
            </a:r>
          </a:p>
        </p:txBody>
      </p:sp>
      <p:sp>
        <p:nvSpPr>
          <p:cNvPr id="4" name="Slide Number Placeholder 3"/>
          <p:cNvSpPr>
            <a:spLocks noGrp="1"/>
          </p:cNvSpPr>
          <p:nvPr>
            <p:ph type="sldNum" sz="quarter" idx="5"/>
          </p:nvPr>
        </p:nvSpPr>
        <p:spPr/>
        <p:txBody>
          <a:bodyPr/>
          <a:lstStyle/>
          <a:p>
            <a:fld id="{76F53CAE-8DE8-4354-933D-804BFA6ED371}" type="slidenum">
              <a:rPr lang="en-US" smtClean="0"/>
              <a:t>3</a:t>
            </a:fld>
            <a:endParaRPr lang="en-US" dirty="0"/>
          </a:p>
        </p:txBody>
      </p:sp>
    </p:spTree>
    <p:extLst>
      <p:ext uri="{BB962C8B-B14F-4D97-AF65-F5344CB8AC3E}">
        <p14:creationId xmlns:p14="http://schemas.microsoft.com/office/powerpoint/2010/main" val="1236045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this study is to determine what factors contribute most to customer satisfaction among the target market for International Cheese Shop.</a:t>
            </a:r>
          </a:p>
        </p:txBody>
      </p:sp>
      <p:sp>
        <p:nvSpPr>
          <p:cNvPr id="4" name="Slide Number Placeholder 3"/>
          <p:cNvSpPr>
            <a:spLocks noGrp="1"/>
          </p:cNvSpPr>
          <p:nvPr>
            <p:ph type="sldNum" sz="quarter" idx="5"/>
          </p:nvPr>
        </p:nvSpPr>
        <p:spPr/>
        <p:txBody>
          <a:bodyPr/>
          <a:lstStyle/>
          <a:p>
            <a:fld id="{76F53CAE-8DE8-4354-933D-804BFA6ED371}" type="slidenum">
              <a:rPr lang="en-US" smtClean="0"/>
              <a:t>4</a:t>
            </a:fld>
            <a:endParaRPr lang="en-US" dirty="0"/>
          </a:p>
        </p:txBody>
      </p:sp>
    </p:spTree>
    <p:extLst>
      <p:ext uri="{BB962C8B-B14F-4D97-AF65-F5344CB8AC3E}">
        <p14:creationId xmlns:p14="http://schemas.microsoft.com/office/powerpoint/2010/main" val="3603542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study attempts to answer the following questions: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is the overall satisfaction with the customer experience provided at International Cheese Shop?</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Is International Cheese Shop meeting customer expectations regarding the selection of cheeses being offered?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Are customers generally satisfied with the service being provided by the staff?</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Are there any additional services that customers want that are not being offered?</a:t>
            </a:r>
          </a:p>
          <a:p>
            <a:endParaRPr lang="en-US" dirty="0"/>
          </a:p>
        </p:txBody>
      </p:sp>
      <p:sp>
        <p:nvSpPr>
          <p:cNvPr id="4" name="Slide Number Placeholder 3"/>
          <p:cNvSpPr>
            <a:spLocks noGrp="1"/>
          </p:cNvSpPr>
          <p:nvPr>
            <p:ph type="sldNum" sz="quarter" idx="5"/>
          </p:nvPr>
        </p:nvSpPr>
        <p:spPr/>
        <p:txBody>
          <a:bodyPr/>
          <a:lstStyle/>
          <a:p>
            <a:fld id="{76F53CAE-8DE8-4354-933D-804BFA6ED371}" type="slidenum">
              <a:rPr lang="en-US" smtClean="0"/>
              <a:t>5</a:t>
            </a:fld>
            <a:endParaRPr lang="en-US" dirty="0"/>
          </a:p>
        </p:txBody>
      </p:sp>
    </p:spTree>
    <p:extLst>
      <p:ext uri="{BB962C8B-B14F-4D97-AF65-F5344CB8AC3E}">
        <p14:creationId xmlns:p14="http://schemas.microsoft.com/office/powerpoint/2010/main" val="1935961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Since the research objective focuses on customer satisfaction, a customer satisfaction survey would be best to gauge feedback on International Cheese Shop. Results from this type of survey can help identify overall satisfaction trends and address perceived issues with the cheese shop.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We can recruit respondents using the list of 414 subscribers to </a:t>
            </a:r>
            <a:r>
              <a:rPr lang="en-US" sz="1200" i="1" kern="100" dirty="0">
                <a:effectLst/>
                <a:latin typeface="Times New Roman" panose="02020603050405020304" pitchFamily="18" charset="0"/>
                <a:ea typeface="Calibri" panose="020F0502020204030204" pitchFamily="34" charset="0"/>
                <a:cs typeface="Times New Roman" panose="02020603050405020304" pitchFamily="18" charset="0"/>
              </a:rPr>
              <a:t>Cheese Gourmet </a:t>
            </a: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magazine that are also living in the San Francisco area.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For this study, the target population size is estimated to be 414. At the 95% confidence level, this study will have a margin of error of +/- 5%. A sample size needed is 200.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6F53CAE-8DE8-4354-933D-804BFA6ED371}" type="slidenum">
              <a:rPr lang="en-US" smtClean="0"/>
              <a:t>6</a:t>
            </a:fld>
            <a:endParaRPr lang="en-US" dirty="0"/>
          </a:p>
        </p:txBody>
      </p:sp>
    </p:spTree>
    <p:extLst>
      <p:ext uri="{BB962C8B-B14F-4D97-AF65-F5344CB8AC3E}">
        <p14:creationId xmlns:p14="http://schemas.microsoft.com/office/powerpoint/2010/main" val="548694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After reviewing the survey results, 256 respondents of 414 subscribers participated in the survey, resulting in a response rate of 62%.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The ideal response rate range for a customer satisfaction survey is 15-30%. This response rate is higher than the ideal., which works for us. The higher the percentage, the better.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Calibri" panose="020F0502020204030204" pitchFamily="34" charset="0"/>
                <a:cs typeface="Times New Roman" panose="02020603050405020304" pitchFamily="18" charset="0"/>
              </a:rPr>
              <a:t>We can assume that since the methodology attempted to reach consumers of the cheese industry by targeting subscribers to a gourmet cheese magazine, this led to a higher response rate since respondents might have had a higher interest in the survey topic. </a:t>
            </a:r>
          </a:p>
          <a:p>
            <a:endParaRPr lang="en-US" dirty="0"/>
          </a:p>
        </p:txBody>
      </p:sp>
      <p:sp>
        <p:nvSpPr>
          <p:cNvPr id="4" name="Slide Number Placeholder 3"/>
          <p:cNvSpPr>
            <a:spLocks noGrp="1"/>
          </p:cNvSpPr>
          <p:nvPr>
            <p:ph type="sldNum" sz="quarter" idx="5"/>
          </p:nvPr>
        </p:nvSpPr>
        <p:spPr/>
        <p:txBody>
          <a:bodyPr/>
          <a:lstStyle/>
          <a:p>
            <a:fld id="{76F53CAE-8DE8-4354-933D-804BFA6ED371}" type="slidenum">
              <a:rPr lang="en-US" smtClean="0"/>
              <a:t>7</a:t>
            </a:fld>
            <a:endParaRPr lang="en-US" dirty="0"/>
          </a:p>
        </p:txBody>
      </p:sp>
    </p:spTree>
    <p:extLst>
      <p:ext uri="{BB962C8B-B14F-4D97-AF65-F5344CB8AC3E}">
        <p14:creationId xmlns:p14="http://schemas.microsoft.com/office/powerpoint/2010/main" val="3735324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reviewing the focus group results, a key insight is the ambiance and overall experience within International Cheese Shop are paramount in driving customer satisfaction. Customers highly value the welcoming atmosphere and knowledgeable staff.</a:t>
            </a:r>
          </a:p>
          <a:p>
            <a:endParaRPr lang="en-US" dirty="0"/>
          </a:p>
          <a:p>
            <a:r>
              <a:rPr lang="en-US" dirty="0"/>
              <a:t>This insight emphasizes the importance of maintaining an inviting environment and investing in staff training.</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also suggests that efforts should be directed toward creating an educational and welcoming environment to increase customer satisfaction. </a:t>
            </a:r>
          </a:p>
          <a:p>
            <a:endParaRPr lang="en-US" dirty="0"/>
          </a:p>
        </p:txBody>
      </p:sp>
      <p:sp>
        <p:nvSpPr>
          <p:cNvPr id="4" name="Slide Number Placeholder 3"/>
          <p:cNvSpPr>
            <a:spLocks noGrp="1"/>
          </p:cNvSpPr>
          <p:nvPr>
            <p:ph type="sldNum" sz="quarter" idx="5"/>
          </p:nvPr>
        </p:nvSpPr>
        <p:spPr/>
        <p:txBody>
          <a:bodyPr/>
          <a:lstStyle/>
          <a:p>
            <a:fld id="{76F53CAE-8DE8-4354-933D-804BFA6ED371}" type="slidenum">
              <a:rPr lang="en-US" smtClean="0"/>
              <a:t>8</a:t>
            </a:fld>
            <a:endParaRPr lang="en-US" dirty="0"/>
          </a:p>
        </p:txBody>
      </p:sp>
    </p:spTree>
    <p:extLst>
      <p:ext uri="{BB962C8B-B14F-4D97-AF65-F5344CB8AC3E}">
        <p14:creationId xmlns:p14="http://schemas.microsoft.com/office/powerpoint/2010/main" val="2697916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A second insight is the diversity and quality of cheese selection significantly drive customer satisfaction. Customer feedback indicates that a wide selection of high-quality cheeses, including gourmet, imported, and domestic, play a central role in meeting customer expectations. </a:t>
            </a:r>
          </a:p>
          <a:p>
            <a:pPr marL="0" indent="0">
              <a:buNone/>
            </a:pPr>
            <a:endParaRPr lang="en-US" sz="1200" dirty="0"/>
          </a:p>
          <a:p>
            <a:pPr marL="0" indent="0">
              <a:buNone/>
            </a:pPr>
            <a:r>
              <a:rPr lang="en-US" sz="1200" dirty="0"/>
              <a:t>The insight emphasizes the importance of continuously expanding and curating cheese offerings, which caters to diverse tastes and preferences.</a:t>
            </a:r>
          </a:p>
          <a:p>
            <a:pPr marL="0" indent="0">
              <a:buNone/>
            </a:pPr>
            <a:endParaRPr lang="en-US" sz="1200" dirty="0"/>
          </a:p>
          <a:p>
            <a:pPr marL="0" indent="0">
              <a:buNone/>
            </a:pPr>
            <a:r>
              <a:rPr lang="en-US" sz="1200" dirty="0"/>
              <a:t>It also highlights the importance of cheese selection as a key factor, which suggests that International Cheese Shop should prioritize product diversity and quality. </a:t>
            </a:r>
          </a:p>
          <a:p>
            <a:endParaRPr lang="en-US" dirty="0"/>
          </a:p>
        </p:txBody>
      </p:sp>
      <p:sp>
        <p:nvSpPr>
          <p:cNvPr id="4" name="Slide Number Placeholder 3"/>
          <p:cNvSpPr>
            <a:spLocks noGrp="1"/>
          </p:cNvSpPr>
          <p:nvPr>
            <p:ph type="sldNum" sz="quarter" idx="5"/>
          </p:nvPr>
        </p:nvSpPr>
        <p:spPr/>
        <p:txBody>
          <a:bodyPr/>
          <a:lstStyle/>
          <a:p>
            <a:fld id="{76F53CAE-8DE8-4354-933D-804BFA6ED371}" type="slidenum">
              <a:rPr lang="en-US" smtClean="0"/>
              <a:t>9</a:t>
            </a:fld>
            <a:endParaRPr lang="en-US" dirty="0"/>
          </a:p>
        </p:txBody>
      </p:sp>
    </p:spTree>
    <p:extLst>
      <p:ext uri="{BB962C8B-B14F-4D97-AF65-F5344CB8AC3E}">
        <p14:creationId xmlns:p14="http://schemas.microsoft.com/office/powerpoint/2010/main" val="371047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analyzing the survey results, the first insight is the wide selection of cheeses, specifically gourmet and imported, drive customer satisfaction when respondents are visiting their favorite cheese shop. </a:t>
            </a:r>
          </a:p>
          <a:p>
            <a:endParaRPr lang="en-US" dirty="0"/>
          </a:p>
          <a:p>
            <a:r>
              <a:rPr lang="en-US" dirty="0"/>
              <a:t>From the survey results, the availability of imported and gourmet cheeses were the most important services from respondents. Selection of cheeses was the third most response. </a:t>
            </a:r>
          </a:p>
          <a:p>
            <a:endParaRPr lang="en-US" dirty="0"/>
          </a:p>
          <a:p>
            <a:r>
              <a:rPr lang="en-US" dirty="0"/>
              <a:t>A variety of factors played also key roles in this insight. The first is age, as most responses came from the ages 31-40yrs age group. All ages saw the selection of cheeses also as important. The second factor is gender, as females cared more about selection of cheeses, with imported cheeses being of utmost importance. Males came in second with gourmet cheeses being their first important response. The third factor was their living situation, renters being the highest number of respondents, and they also had high selection of cheeses and their types being the most important part of services offered at their cheese shop. </a:t>
            </a:r>
          </a:p>
        </p:txBody>
      </p:sp>
      <p:sp>
        <p:nvSpPr>
          <p:cNvPr id="4" name="Slide Number Placeholder 3"/>
          <p:cNvSpPr>
            <a:spLocks noGrp="1"/>
          </p:cNvSpPr>
          <p:nvPr>
            <p:ph type="sldNum" sz="quarter" idx="5"/>
          </p:nvPr>
        </p:nvSpPr>
        <p:spPr/>
        <p:txBody>
          <a:bodyPr/>
          <a:lstStyle/>
          <a:p>
            <a:fld id="{76F53CAE-8DE8-4354-933D-804BFA6ED371}" type="slidenum">
              <a:rPr lang="en-US" smtClean="0"/>
              <a:t>10</a:t>
            </a:fld>
            <a:endParaRPr lang="en-US" dirty="0"/>
          </a:p>
        </p:txBody>
      </p:sp>
    </p:spTree>
    <p:extLst>
      <p:ext uri="{BB962C8B-B14F-4D97-AF65-F5344CB8AC3E}">
        <p14:creationId xmlns:p14="http://schemas.microsoft.com/office/powerpoint/2010/main" val="1606568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details the results of question one from the survey. </a:t>
            </a:r>
          </a:p>
          <a:p>
            <a:endParaRPr lang="en-US" dirty="0"/>
          </a:p>
          <a:p>
            <a:r>
              <a:rPr lang="en-US" dirty="0"/>
              <a:t>61 total respondents listed gourmet cheeses as the most important part of the service received from their favorite cheese shop. 59 listed the availability of imported cheeses, and 40 respondents listed the large selection of cheeses. </a:t>
            </a:r>
          </a:p>
          <a:p>
            <a:endParaRPr lang="en-US" dirty="0"/>
          </a:p>
          <a:p>
            <a:r>
              <a:rPr lang="en-US" dirty="0"/>
              <a:t>This implies that the overall selection of cheeses is an important factor when visiting a cheese shop. </a:t>
            </a:r>
          </a:p>
        </p:txBody>
      </p:sp>
      <p:sp>
        <p:nvSpPr>
          <p:cNvPr id="4" name="Slide Number Placeholder 3"/>
          <p:cNvSpPr>
            <a:spLocks noGrp="1"/>
          </p:cNvSpPr>
          <p:nvPr>
            <p:ph type="sldNum" sz="quarter" idx="5"/>
          </p:nvPr>
        </p:nvSpPr>
        <p:spPr/>
        <p:txBody>
          <a:bodyPr/>
          <a:lstStyle/>
          <a:p>
            <a:fld id="{76F53CAE-8DE8-4354-933D-804BFA6ED371}" type="slidenum">
              <a:rPr lang="en-US" smtClean="0"/>
              <a:t>11</a:t>
            </a:fld>
            <a:endParaRPr lang="en-US" dirty="0"/>
          </a:p>
        </p:txBody>
      </p:sp>
    </p:spTree>
    <p:extLst>
      <p:ext uri="{BB962C8B-B14F-4D97-AF65-F5344CB8AC3E}">
        <p14:creationId xmlns:p14="http://schemas.microsoft.com/office/powerpoint/2010/main" val="37010758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insight is that the overall satisfaction of services, such as friendly staff, location, and cleanliness at International Cheese Shop, plays a key factor when customers visit. </a:t>
            </a:r>
          </a:p>
          <a:p>
            <a:endParaRPr lang="en-US" dirty="0"/>
          </a:p>
          <a:p>
            <a:r>
              <a:rPr lang="en-US" dirty="0"/>
              <a:t>After analyzing the survey results from the second question, three services had the highest rating of an average of 4.5: good location, cleanliness of facility, and friendliness of staff. </a:t>
            </a:r>
          </a:p>
          <a:p>
            <a:endParaRPr lang="en-US" dirty="0"/>
          </a:p>
          <a:p>
            <a:r>
              <a:rPr lang="en-US" dirty="0"/>
              <a:t>A variety of factors played also key roles in this insight. The first is gender as males had a higher overall satisfaction on different services at International Cheese Shop. Nonbinary were the second highest overall satisfaction. Age also played a key factor in this insight as ages 31-40yrs had the highest average satisfaction, with 20-30yrs old being the second highest age group.</a:t>
            </a:r>
          </a:p>
        </p:txBody>
      </p:sp>
      <p:sp>
        <p:nvSpPr>
          <p:cNvPr id="4" name="Slide Number Placeholder 3"/>
          <p:cNvSpPr>
            <a:spLocks noGrp="1"/>
          </p:cNvSpPr>
          <p:nvPr>
            <p:ph type="sldNum" sz="quarter" idx="5"/>
          </p:nvPr>
        </p:nvSpPr>
        <p:spPr/>
        <p:txBody>
          <a:bodyPr/>
          <a:lstStyle/>
          <a:p>
            <a:fld id="{76F53CAE-8DE8-4354-933D-804BFA6ED371}" type="slidenum">
              <a:rPr lang="en-US" smtClean="0"/>
              <a:t>12</a:t>
            </a:fld>
            <a:endParaRPr lang="en-US" dirty="0"/>
          </a:p>
        </p:txBody>
      </p:sp>
    </p:spTree>
    <p:extLst>
      <p:ext uri="{BB962C8B-B14F-4D97-AF65-F5344CB8AC3E}">
        <p14:creationId xmlns:p14="http://schemas.microsoft.com/office/powerpoint/2010/main" val="29061584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details the results of question two from the survey on overall satisfaction segmented by age. This displays that an ideal target market ages for International Cheese Shop ranges from 20-30yrs and 31-40yrs old as both age groups had the highest ratings overall.</a:t>
            </a:r>
          </a:p>
          <a:p>
            <a:endParaRPr lang="en-US" dirty="0"/>
          </a:p>
          <a:p>
            <a:r>
              <a:rPr lang="en-US" dirty="0"/>
              <a:t>The graph also displays areas where respondents are not satisfied, the lowest being the availability of imported cheeses and the large selection of cheeses.</a:t>
            </a:r>
          </a:p>
        </p:txBody>
      </p:sp>
      <p:sp>
        <p:nvSpPr>
          <p:cNvPr id="4" name="Slide Number Placeholder 3"/>
          <p:cNvSpPr>
            <a:spLocks noGrp="1"/>
          </p:cNvSpPr>
          <p:nvPr>
            <p:ph type="sldNum" sz="quarter" idx="5"/>
          </p:nvPr>
        </p:nvSpPr>
        <p:spPr/>
        <p:txBody>
          <a:bodyPr/>
          <a:lstStyle/>
          <a:p>
            <a:fld id="{76F53CAE-8DE8-4354-933D-804BFA6ED371}" type="slidenum">
              <a:rPr lang="en-US" smtClean="0"/>
              <a:t>13</a:t>
            </a:fld>
            <a:endParaRPr lang="en-US" dirty="0"/>
          </a:p>
        </p:txBody>
      </p:sp>
    </p:spTree>
    <p:extLst>
      <p:ext uri="{BB962C8B-B14F-4D97-AF65-F5344CB8AC3E}">
        <p14:creationId xmlns:p14="http://schemas.microsoft.com/office/powerpoint/2010/main" val="18688839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recommendation to give International Cheese Shop would be to increase their selection of cheeses. From the survey and focus group results, most respondents are not satisfied with the selection of cheeses. Most would like to see an increased variety of cheeses, specifically imported and gourmet cheeses. This along with training their staff to be knowledgeable on the type of cheeses they offer can lead to an increase in overall customer satisfaction.</a:t>
            </a:r>
          </a:p>
          <a:p>
            <a:endParaRPr lang="en-US" dirty="0"/>
          </a:p>
          <a:p>
            <a:r>
              <a:rPr lang="en-US" dirty="0"/>
              <a:t>A second recommendation would be to change prices of their cheeses that they offer. International Cheese Shop can include coupons or offers on different types of cheeses that aren’t selling well. They can also include special discount days where certain types of cheeses are on sale that day, along with offering different incentives to increase customer traffic to their store. </a:t>
            </a:r>
          </a:p>
        </p:txBody>
      </p:sp>
      <p:sp>
        <p:nvSpPr>
          <p:cNvPr id="4" name="Slide Number Placeholder 3"/>
          <p:cNvSpPr>
            <a:spLocks noGrp="1"/>
          </p:cNvSpPr>
          <p:nvPr>
            <p:ph type="sldNum" sz="quarter" idx="5"/>
          </p:nvPr>
        </p:nvSpPr>
        <p:spPr/>
        <p:txBody>
          <a:bodyPr/>
          <a:lstStyle/>
          <a:p>
            <a:fld id="{76F53CAE-8DE8-4354-933D-804BFA6ED371}" type="slidenum">
              <a:rPr lang="en-US" smtClean="0"/>
              <a:t>14</a:t>
            </a:fld>
            <a:endParaRPr lang="en-US" dirty="0"/>
          </a:p>
        </p:txBody>
      </p:sp>
    </p:spTree>
    <p:extLst>
      <p:ext uri="{BB962C8B-B14F-4D97-AF65-F5344CB8AC3E}">
        <p14:creationId xmlns:p14="http://schemas.microsoft.com/office/powerpoint/2010/main" val="32478936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395C5C9-164C-46B3-A87E-7660D39D3106}" type="datetime2">
              <a:rPr lang="en-US" smtClean="0"/>
              <a:t>Wednesday, August 21, 2024</a:t>
            </a:fld>
            <a:endParaRPr lang="en-US" dirty="0"/>
          </a:p>
        </p:txBody>
      </p:sp>
      <p:sp>
        <p:nvSpPr>
          <p:cNvPr id="5" name="Footer Placeholder 4"/>
          <p:cNvSpPr>
            <a:spLocks noGrp="1"/>
          </p:cNvSpPr>
          <p:nvPr>
            <p:ph type="ftr" sz="quarter" idx="11"/>
          </p:nvPr>
        </p:nvSpPr>
        <p:spPr/>
        <p:txBody>
          <a:bodyPr/>
          <a:lstStyle/>
          <a:p>
            <a:pPr algn="l"/>
            <a:r>
              <a:rPr lang="en-US" dirty="0"/>
              <a:t>Sample Footer Text</a:t>
            </a:r>
          </a:p>
        </p:txBody>
      </p:sp>
      <p:sp>
        <p:nvSpPr>
          <p:cNvPr id="6" name="Slide Number Placeholder 5"/>
          <p:cNvSpPr>
            <a:spLocks noGrp="1"/>
          </p:cNvSpPr>
          <p:nvPr>
            <p:ph type="sldNum" sz="quarter" idx="12"/>
          </p:nvPr>
        </p:nvSpPr>
        <p:spPr>
          <a:xfrm>
            <a:off x="9255346" y="2750337"/>
            <a:ext cx="1171888" cy="1356442"/>
          </a:xfrm>
        </p:spPr>
        <p:txBody>
          <a:bodyPr/>
          <a:lstStyle/>
          <a:p>
            <a:fld id="{1621B6DD-29C1-4FEA-923F-71EA1347694C}" type="slidenum">
              <a:rPr lang="en-US" smtClean="0"/>
              <a:t>‹#›</a:t>
            </a:fld>
            <a:endParaRPr lang="en-US" dirty="0"/>
          </a:p>
        </p:txBody>
      </p:sp>
    </p:spTree>
    <p:extLst>
      <p:ext uri="{BB962C8B-B14F-4D97-AF65-F5344CB8AC3E}">
        <p14:creationId xmlns:p14="http://schemas.microsoft.com/office/powerpoint/2010/main" val="3133061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DCFF8A-AAF8-4A12-8A91-9CA0EAF6CBB9}" type="datetime2">
              <a:rPr lang="en-US" smtClean="0"/>
              <a:t>Wednesday, August 21, 2024</a:t>
            </a:fld>
            <a:endParaRPr lang="en-US" dirty="0"/>
          </a:p>
        </p:txBody>
      </p:sp>
      <p:sp>
        <p:nvSpPr>
          <p:cNvPr id="5" name="Footer Placeholder 4"/>
          <p:cNvSpPr>
            <a:spLocks noGrp="1"/>
          </p:cNvSpPr>
          <p:nvPr>
            <p:ph type="ftr" sz="quarter" idx="11"/>
          </p:nvPr>
        </p:nvSpPr>
        <p:spPr/>
        <p:txBody>
          <a:bodyPr/>
          <a:lstStyle/>
          <a:p>
            <a:pPr algn="l"/>
            <a:r>
              <a:rPr lang="en-US" dirty="0"/>
              <a:t>Sample Footer Text</a:t>
            </a:r>
          </a:p>
        </p:txBody>
      </p:sp>
      <p:sp>
        <p:nvSpPr>
          <p:cNvPr id="6" name="Slide Number Placeholder 5"/>
          <p:cNvSpPr>
            <a:spLocks noGrp="1"/>
          </p:cNvSpPr>
          <p:nvPr>
            <p:ph type="sldNum" sz="quarter" idx="12"/>
          </p:nvPr>
        </p:nvSpPr>
        <p:spPr/>
        <p:txBody>
          <a:bodyPr/>
          <a:lstStyle/>
          <a:p>
            <a:fld id="{1621B6DD-29C1-4FEA-923F-71EA1347694C}" type="slidenum">
              <a:rPr lang="en-US" smtClean="0"/>
              <a:t>‹#›</a:t>
            </a:fld>
            <a:endParaRPr lang="en-US" dirty="0"/>
          </a:p>
        </p:txBody>
      </p:sp>
    </p:spTree>
    <p:extLst>
      <p:ext uri="{BB962C8B-B14F-4D97-AF65-F5344CB8AC3E}">
        <p14:creationId xmlns:p14="http://schemas.microsoft.com/office/powerpoint/2010/main" val="3268534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CC25C3-021A-4B0B-8F70-0C181FE1CF45}" type="datetime2">
              <a:rPr lang="en-US" smtClean="0"/>
              <a:t>Wednesday, August 21, 2024</a:t>
            </a:fld>
            <a:endParaRPr lang="en-US" dirty="0"/>
          </a:p>
        </p:txBody>
      </p:sp>
      <p:sp>
        <p:nvSpPr>
          <p:cNvPr id="5" name="Footer Placeholder 4"/>
          <p:cNvSpPr>
            <a:spLocks noGrp="1"/>
          </p:cNvSpPr>
          <p:nvPr>
            <p:ph type="ftr" sz="quarter" idx="11"/>
          </p:nvPr>
        </p:nvSpPr>
        <p:spPr/>
        <p:txBody>
          <a:bodyPr/>
          <a:lstStyle/>
          <a:p>
            <a:pPr algn="l"/>
            <a:r>
              <a:rPr lang="en-US" dirty="0"/>
              <a:t>Sample Footer Text</a:t>
            </a:r>
          </a:p>
        </p:txBody>
      </p:sp>
      <p:sp>
        <p:nvSpPr>
          <p:cNvPr id="6" name="Slide Number Placeholder 5"/>
          <p:cNvSpPr>
            <a:spLocks noGrp="1"/>
          </p:cNvSpPr>
          <p:nvPr>
            <p:ph type="sldNum" sz="quarter" idx="12"/>
          </p:nvPr>
        </p:nvSpPr>
        <p:spPr>
          <a:xfrm>
            <a:off x="10729455" y="2869895"/>
            <a:ext cx="1154151" cy="1090789"/>
          </a:xfrm>
        </p:spPr>
        <p:txBody>
          <a:bodyPr/>
          <a:lstStyle/>
          <a:p>
            <a:fld id="{1621B6DD-29C1-4FEA-923F-71EA1347694C}" type="slidenum">
              <a:rPr lang="en-US" smtClean="0"/>
              <a:t>‹#›</a:t>
            </a:fld>
            <a:endParaRPr lang="en-US" dirty="0"/>
          </a:p>
        </p:txBody>
      </p:sp>
    </p:spTree>
    <p:extLst>
      <p:ext uri="{BB962C8B-B14F-4D97-AF65-F5344CB8AC3E}">
        <p14:creationId xmlns:p14="http://schemas.microsoft.com/office/powerpoint/2010/main" val="1996271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23D88D-8CEC-4ED9-A53B-5596187D9A16}" type="datetime2">
              <a:rPr lang="en-US" smtClean="0"/>
              <a:t>Wednesday, August 21, 2024</a:t>
            </a:fld>
            <a:endParaRPr lang="en-US" dirty="0"/>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1621B6DD-29C1-4FEA-923F-71EA1347694C}" type="slidenum">
              <a:rPr lang="en-US" smtClean="0"/>
              <a:t>‹#›</a:t>
            </a:fld>
            <a:endParaRPr lang="en-US" dirty="0"/>
          </a:p>
        </p:txBody>
      </p:sp>
    </p:spTree>
    <p:extLst>
      <p:ext uri="{BB962C8B-B14F-4D97-AF65-F5344CB8AC3E}">
        <p14:creationId xmlns:p14="http://schemas.microsoft.com/office/powerpoint/2010/main" val="257833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CCD382-DFDA-4722-A27A-59C21AD112F2}" type="datetime2">
              <a:rPr lang="en-US" smtClean="0"/>
              <a:t>Wednesday, August 21, 2024</a:t>
            </a:fld>
            <a:endParaRPr lang="en-US" dirty="0"/>
          </a:p>
        </p:txBody>
      </p:sp>
      <p:sp>
        <p:nvSpPr>
          <p:cNvPr id="8" name="Footer Placeholder 7"/>
          <p:cNvSpPr>
            <a:spLocks noGrp="1"/>
          </p:cNvSpPr>
          <p:nvPr>
            <p:ph type="ftr" sz="quarter" idx="11"/>
          </p:nvPr>
        </p:nvSpPr>
        <p:spPr/>
        <p:txBody>
          <a:bodyPr/>
          <a:lstStyle/>
          <a:p>
            <a:r>
              <a:rPr lang="en-US" dirty="0"/>
              <a:t>Sample Footer Text</a:t>
            </a:r>
          </a:p>
        </p:txBody>
      </p:sp>
      <p:sp>
        <p:nvSpPr>
          <p:cNvPr id="9" name="Slide Number Placeholder 8"/>
          <p:cNvSpPr>
            <a:spLocks noGrp="1"/>
          </p:cNvSpPr>
          <p:nvPr>
            <p:ph type="sldNum" sz="quarter" idx="12"/>
          </p:nvPr>
        </p:nvSpPr>
        <p:spPr/>
        <p:txBody>
          <a:bodyPr/>
          <a:lstStyle/>
          <a:p>
            <a:fld id="{1621B6DD-29C1-4FEA-923F-71EA1347694C}" type="slidenum">
              <a:rPr lang="en-US" smtClean="0"/>
              <a:t>‹#›</a:t>
            </a:fld>
            <a:endParaRPr lang="en-US" dirty="0"/>
          </a:p>
        </p:txBody>
      </p:sp>
    </p:spTree>
    <p:extLst>
      <p:ext uri="{BB962C8B-B14F-4D97-AF65-F5344CB8AC3E}">
        <p14:creationId xmlns:p14="http://schemas.microsoft.com/office/powerpoint/2010/main" val="1740040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F2A30D-1C09-413F-AAB1-38F366000715}" type="datetime2">
              <a:rPr lang="en-US" smtClean="0"/>
              <a:t>Wednesday, August 21, 2024</a:t>
            </a:fld>
            <a:endParaRPr lang="en-US" dirty="0"/>
          </a:p>
        </p:txBody>
      </p:sp>
      <p:sp>
        <p:nvSpPr>
          <p:cNvPr id="4" name="Footer Placeholder 3"/>
          <p:cNvSpPr>
            <a:spLocks noGrp="1"/>
          </p:cNvSpPr>
          <p:nvPr>
            <p:ph type="ftr" sz="quarter" idx="11"/>
          </p:nvPr>
        </p:nvSpPr>
        <p:spPr/>
        <p:txBody>
          <a:bodyPr/>
          <a:lstStyle/>
          <a:p>
            <a:r>
              <a:rPr lang="en-US" dirty="0"/>
              <a:t>Sample Footer Text</a:t>
            </a:r>
          </a:p>
        </p:txBody>
      </p:sp>
      <p:sp>
        <p:nvSpPr>
          <p:cNvPr id="5" name="Slide Number Placeholder 4"/>
          <p:cNvSpPr>
            <a:spLocks noGrp="1"/>
          </p:cNvSpPr>
          <p:nvPr>
            <p:ph type="sldNum" sz="quarter" idx="12"/>
          </p:nvPr>
        </p:nvSpPr>
        <p:spPr/>
        <p:txBody>
          <a:bodyPr/>
          <a:lstStyle/>
          <a:p>
            <a:fld id="{1621B6DD-29C1-4FEA-923F-71EA1347694C}" type="slidenum">
              <a:rPr lang="en-US" smtClean="0"/>
              <a:t>‹#›</a:t>
            </a:fld>
            <a:endParaRPr lang="en-US" dirty="0"/>
          </a:p>
        </p:txBody>
      </p:sp>
    </p:spTree>
    <p:extLst>
      <p:ext uri="{BB962C8B-B14F-4D97-AF65-F5344CB8AC3E}">
        <p14:creationId xmlns:p14="http://schemas.microsoft.com/office/powerpoint/2010/main" val="3880931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6DB82B9C-D65E-4F64-95C3-B10F3B00F0D9}" type="datetime2">
              <a:rPr lang="en-US" smtClean="0"/>
              <a:t>Wednesday, August 21, 2024</a:t>
            </a:fld>
            <a:endParaRPr lang="en-US" dirty="0"/>
          </a:p>
        </p:txBody>
      </p:sp>
      <p:sp>
        <p:nvSpPr>
          <p:cNvPr id="3" name="Footer Placeholder 2"/>
          <p:cNvSpPr>
            <a:spLocks noGrp="1"/>
          </p:cNvSpPr>
          <p:nvPr>
            <p:ph type="ftr" sz="quarter" idx="11"/>
          </p:nvPr>
        </p:nvSpPr>
        <p:spPr/>
        <p:txBody>
          <a:bodyPr/>
          <a:lstStyle/>
          <a:p>
            <a:r>
              <a:rPr lang="en-US" dirty="0"/>
              <a:t>Sample Footer Text</a:t>
            </a:r>
          </a:p>
        </p:txBody>
      </p:sp>
      <p:sp>
        <p:nvSpPr>
          <p:cNvPr id="4" name="Slide Number Placeholder 3"/>
          <p:cNvSpPr>
            <a:spLocks noGrp="1"/>
          </p:cNvSpPr>
          <p:nvPr>
            <p:ph type="sldNum" sz="quarter" idx="12"/>
          </p:nvPr>
        </p:nvSpPr>
        <p:spPr/>
        <p:txBody>
          <a:bodyPr/>
          <a:lstStyle/>
          <a:p>
            <a:fld id="{1621B6DD-29C1-4FEA-923F-71EA1347694C}" type="slidenum">
              <a:rPr lang="en-US" smtClean="0"/>
              <a:t>‹#›</a:t>
            </a:fld>
            <a:endParaRPr lang="en-US" dirty="0"/>
          </a:p>
        </p:txBody>
      </p:sp>
    </p:spTree>
    <p:extLst>
      <p:ext uri="{BB962C8B-B14F-4D97-AF65-F5344CB8AC3E}">
        <p14:creationId xmlns:p14="http://schemas.microsoft.com/office/powerpoint/2010/main" val="4207926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F5FDCC-6AAC-4A08-B9E0-3793AB5E64C3}" type="datetime2">
              <a:rPr lang="en-US" smtClean="0"/>
              <a:t>Wednesday, August 21, 2024</a:t>
            </a:fld>
            <a:endParaRPr lang="en-US" dirty="0"/>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1621B6DD-29C1-4FEA-923F-71EA1347694C}" type="slidenum">
              <a:rPr lang="en-US" smtClean="0"/>
              <a:t>‹#›</a:t>
            </a:fld>
            <a:endParaRPr lang="en-US" dirty="0"/>
          </a:p>
        </p:txBody>
      </p:sp>
    </p:spTree>
    <p:extLst>
      <p:ext uri="{BB962C8B-B14F-4D97-AF65-F5344CB8AC3E}">
        <p14:creationId xmlns:p14="http://schemas.microsoft.com/office/powerpoint/2010/main" val="1231995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9FE94D-439C-40F1-900E-BC07940E3988}" type="datetime2">
              <a:rPr lang="en-US" smtClean="0"/>
              <a:t>Wednesday, August 21, 2024</a:t>
            </a:fld>
            <a:endParaRPr lang="en-US" dirty="0"/>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1621B6DD-29C1-4FEA-923F-71EA1347694C}" type="slidenum">
              <a:rPr lang="en-US" smtClean="0"/>
              <a:t>‹#›</a:t>
            </a:fld>
            <a:endParaRPr lang="en-US" dirty="0"/>
          </a:p>
        </p:txBody>
      </p:sp>
    </p:spTree>
    <p:extLst>
      <p:ext uri="{BB962C8B-B14F-4D97-AF65-F5344CB8AC3E}">
        <p14:creationId xmlns:p14="http://schemas.microsoft.com/office/powerpoint/2010/main" val="3862082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EA2CF1-0EB2-4673-802D-3371233E4A77}" type="datetime2">
              <a:rPr lang="en-US" smtClean="0"/>
              <a:t>Wednesday, August 21, 2024</a:t>
            </a:fld>
            <a:endParaRPr lang="en-US" dirty="0"/>
          </a:p>
        </p:txBody>
      </p:sp>
      <p:sp>
        <p:nvSpPr>
          <p:cNvPr id="6" name="Footer Placeholder 5"/>
          <p:cNvSpPr>
            <a:spLocks noGrp="1"/>
          </p:cNvSpPr>
          <p:nvPr>
            <p:ph type="ftr" sz="quarter" idx="11"/>
          </p:nvPr>
        </p:nvSpPr>
        <p:spPr/>
        <p:txBody>
          <a:bodyPr/>
          <a:lstStyle/>
          <a:p>
            <a:pPr algn="l"/>
            <a:r>
              <a:rPr lang="en-US" dirty="0"/>
              <a:t>Sample Footer Text</a:t>
            </a:r>
          </a:p>
        </p:txBody>
      </p:sp>
      <p:sp>
        <p:nvSpPr>
          <p:cNvPr id="7" name="Slide Number Placeholder 6"/>
          <p:cNvSpPr>
            <a:spLocks noGrp="1"/>
          </p:cNvSpPr>
          <p:nvPr>
            <p:ph type="sldNum" sz="quarter" idx="12"/>
          </p:nvPr>
        </p:nvSpPr>
        <p:spPr>
          <a:xfrm>
            <a:off x="10729455" y="4711309"/>
            <a:ext cx="1154151" cy="1090789"/>
          </a:xfrm>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239759415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EA2CF1-0EB2-4673-802D-3371233E4A77}" type="datetime2">
              <a:rPr lang="en-US" smtClean="0"/>
              <a:t>Wednesday, August 21, 2024</a:t>
            </a:fld>
            <a:endParaRPr lang="en-US" dirty="0"/>
          </a:p>
        </p:txBody>
      </p:sp>
      <p:sp>
        <p:nvSpPr>
          <p:cNvPr id="6" name="Footer Placeholder 5"/>
          <p:cNvSpPr>
            <a:spLocks noGrp="1"/>
          </p:cNvSpPr>
          <p:nvPr>
            <p:ph type="ftr" sz="quarter" idx="11"/>
          </p:nvPr>
        </p:nvSpPr>
        <p:spPr/>
        <p:txBody>
          <a:bodyPr/>
          <a:lstStyle/>
          <a:p>
            <a:pPr algn="l"/>
            <a:r>
              <a:rPr lang="en-US" dirty="0"/>
              <a:t>Sample Footer Text</a:t>
            </a:r>
          </a:p>
        </p:txBody>
      </p:sp>
      <p:sp>
        <p:nvSpPr>
          <p:cNvPr id="7" name="Slide Number Placeholder 6"/>
          <p:cNvSpPr>
            <a:spLocks noGrp="1"/>
          </p:cNvSpPr>
          <p:nvPr>
            <p:ph type="sldNum" sz="quarter" idx="12"/>
          </p:nvPr>
        </p:nvSpPr>
        <p:spPr>
          <a:xfrm>
            <a:off x="10729455" y="4711615"/>
            <a:ext cx="1154151" cy="1090789"/>
          </a:xfrm>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117812969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EA2CF1-0EB2-4673-802D-3371233E4A77}" type="datetime2">
              <a:rPr lang="en-US" smtClean="0"/>
              <a:t>Wednesday, August 21, 2024</a:t>
            </a:fld>
            <a:endParaRPr lang="en-US" dirty="0"/>
          </a:p>
        </p:txBody>
      </p:sp>
      <p:sp>
        <p:nvSpPr>
          <p:cNvPr id="6" name="Footer Placeholder 5"/>
          <p:cNvSpPr>
            <a:spLocks noGrp="1"/>
          </p:cNvSpPr>
          <p:nvPr>
            <p:ph type="ftr" sz="quarter" idx="11"/>
          </p:nvPr>
        </p:nvSpPr>
        <p:spPr/>
        <p:txBody>
          <a:bodyPr/>
          <a:lstStyle/>
          <a:p>
            <a:pPr algn="l"/>
            <a:r>
              <a:rPr lang="en-US" dirty="0"/>
              <a:t>Sample Footer Text</a:t>
            </a:r>
          </a:p>
        </p:txBody>
      </p:sp>
      <p:sp>
        <p:nvSpPr>
          <p:cNvPr id="7" name="Slide Number Placeholder 6"/>
          <p:cNvSpPr>
            <a:spLocks noGrp="1"/>
          </p:cNvSpPr>
          <p:nvPr>
            <p:ph type="sldNum" sz="quarter" idx="12"/>
          </p:nvPr>
        </p:nvSpPr>
        <p:spPr>
          <a:xfrm>
            <a:off x="10729455" y="4709925"/>
            <a:ext cx="1154151" cy="1090789"/>
          </a:xfrm>
        </p:spPr>
        <p:txBody>
          <a:bodyPr/>
          <a:lstStyle/>
          <a:p>
            <a:fld id="{1621B6DD-29C1-4FEA-923F-71EA1347694C}" type="slidenum">
              <a:rPr lang="en-US" smtClean="0"/>
              <a:pPr/>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201500091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EA2CF1-0EB2-4673-802D-3371233E4A77}" type="datetime2">
              <a:rPr lang="en-US" smtClean="0"/>
              <a:t>Wednesday, August 21, 2024</a:t>
            </a:fld>
            <a:endParaRPr lang="en-US" dirty="0"/>
          </a:p>
        </p:txBody>
      </p:sp>
      <p:sp>
        <p:nvSpPr>
          <p:cNvPr id="6" name="Footer Placeholder 5"/>
          <p:cNvSpPr>
            <a:spLocks noGrp="1"/>
          </p:cNvSpPr>
          <p:nvPr>
            <p:ph type="ftr" sz="quarter" idx="11"/>
          </p:nvPr>
        </p:nvSpPr>
        <p:spPr/>
        <p:txBody>
          <a:bodyPr/>
          <a:lstStyle/>
          <a:p>
            <a:pPr algn="l"/>
            <a:r>
              <a:rPr lang="en-US" dirty="0"/>
              <a:t>Sample Footer Text</a:t>
            </a:r>
          </a:p>
        </p:txBody>
      </p:sp>
      <p:sp>
        <p:nvSpPr>
          <p:cNvPr id="7" name="Slide Number Placeholder 6"/>
          <p:cNvSpPr>
            <a:spLocks noGrp="1"/>
          </p:cNvSpPr>
          <p:nvPr>
            <p:ph type="sldNum" sz="quarter" idx="12"/>
          </p:nvPr>
        </p:nvSpPr>
        <p:spPr>
          <a:xfrm>
            <a:off x="10729455" y="4709925"/>
            <a:ext cx="1154151" cy="1090789"/>
          </a:xfrm>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72634270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DEA2CF1-0EB2-4673-802D-3371233E4A77}" type="datetime2">
              <a:rPr lang="en-US" smtClean="0"/>
              <a:t>Wednesday, August 21, 2024</a:t>
            </a:fld>
            <a:endParaRPr lang="en-US" dirty="0"/>
          </a:p>
        </p:txBody>
      </p:sp>
      <p:sp>
        <p:nvSpPr>
          <p:cNvPr id="4" name="Footer Placeholder 3"/>
          <p:cNvSpPr>
            <a:spLocks noGrp="1"/>
          </p:cNvSpPr>
          <p:nvPr>
            <p:ph type="ftr" sz="quarter" idx="11"/>
          </p:nvPr>
        </p:nvSpPr>
        <p:spPr/>
        <p:txBody>
          <a:bodyPr/>
          <a:lstStyle/>
          <a:p>
            <a:pPr algn="l"/>
            <a:r>
              <a:rPr lang="en-US" dirty="0"/>
              <a:t>Sample Footer Text</a:t>
            </a:r>
          </a:p>
        </p:txBody>
      </p:sp>
      <p:sp>
        <p:nvSpPr>
          <p:cNvPr id="5" name="Slide Number Placeholder 4"/>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4508195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DEA2CF1-0EB2-4673-802D-3371233E4A77}" type="datetime2">
              <a:rPr lang="en-US" smtClean="0"/>
              <a:t>Wednesday, August 21, 2024</a:t>
            </a:fld>
            <a:endParaRPr lang="en-US" dirty="0"/>
          </a:p>
        </p:txBody>
      </p:sp>
      <p:sp>
        <p:nvSpPr>
          <p:cNvPr id="4" name="Footer Placeholder 3"/>
          <p:cNvSpPr>
            <a:spLocks noGrp="1"/>
          </p:cNvSpPr>
          <p:nvPr>
            <p:ph type="ftr" sz="quarter" idx="11"/>
          </p:nvPr>
        </p:nvSpPr>
        <p:spPr/>
        <p:txBody>
          <a:bodyPr/>
          <a:lstStyle/>
          <a:p>
            <a:pPr algn="l"/>
            <a:r>
              <a:rPr lang="en-US" dirty="0"/>
              <a:t>Sample Footer Text</a:t>
            </a:r>
          </a:p>
        </p:txBody>
      </p:sp>
      <p:sp>
        <p:nvSpPr>
          <p:cNvPr id="5" name="Slide Number Placeholder 4"/>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270358932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75179A-1E2B-41AB-B400-4F1B4022FAEE}" type="datetime2">
              <a:rPr lang="en-US" smtClean="0"/>
              <a:t>Wednesday, August 21, 2024</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1621B6DD-29C1-4FEA-923F-71EA1347694C}" type="slidenum">
              <a:rPr lang="en-US" smtClean="0"/>
              <a:t>‹#›</a:t>
            </a:fld>
            <a:endParaRPr lang="en-US" dirty="0"/>
          </a:p>
        </p:txBody>
      </p:sp>
    </p:spTree>
    <p:extLst>
      <p:ext uri="{BB962C8B-B14F-4D97-AF65-F5344CB8AC3E}">
        <p14:creationId xmlns:p14="http://schemas.microsoft.com/office/powerpoint/2010/main" val="6046363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05681D0F-6595-4F14-8EF3-954CD87C797B}" type="datetime2">
              <a:rPr lang="en-US" smtClean="0"/>
              <a:t>Wednesday, August 21, 2024</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r>
              <a:rPr lang="en-US" dirty="0"/>
              <a:t>Sample Footer Text</a:t>
            </a:r>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1621B6DD-29C1-4FEA-923F-71EA1347694C}" type="slidenum">
              <a:rPr lang="en-US" smtClean="0"/>
              <a:t>‹#›</a:t>
            </a:fld>
            <a:endParaRPr lang="en-US" dirty="0"/>
          </a:p>
        </p:txBody>
      </p:sp>
    </p:spTree>
    <p:extLst>
      <p:ext uri="{BB962C8B-B14F-4D97-AF65-F5344CB8AC3E}">
        <p14:creationId xmlns:p14="http://schemas.microsoft.com/office/powerpoint/2010/main" val="4124731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DEA2CF1-0EB2-4673-802D-3371233E4A77}" type="datetime2">
              <a:rPr lang="en-US" smtClean="0"/>
              <a:t>Wednesday, August 21, 2024</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pPr algn="l"/>
            <a:r>
              <a:rPr lang="en-US" dirty="0"/>
              <a:t>Sample Footer Text</a:t>
            </a:r>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4076786812"/>
      </p:ext>
    </p:extLst>
  </p:cSld>
  <p:clrMap bg1="dk1" tx1="lt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7.pn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png"/><Relationship Id="rId7" Type="http://schemas.openxmlformats.org/officeDocument/2006/relationships/diagramQuickStyle" Target="../diagrams/quickStyle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7.png"/><Relationship Id="rId9" Type="http://schemas.microsoft.com/office/2007/relationships/diagramDrawing" Target="../diagrams/drawing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8.jpe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chart" Target="../charts/chart1.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chart" Target="../charts/chart3.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8221A89-FE35-4C46-8874-69154D2A8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Fresh camembert bread and rose">
            <a:extLst>
              <a:ext uri="{FF2B5EF4-FFF2-40B4-BE49-F238E27FC236}">
                <a16:creationId xmlns:a16="http://schemas.microsoft.com/office/drawing/2014/main" id="{E4E42A8D-2830-FBBB-5146-F61291D1025B}"/>
              </a:ext>
            </a:extLst>
          </p:cNvPr>
          <p:cNvPicPr>
            <a:picLocks noChangeAspect="1"/>
          </p:cNvPicPr>
          <p:nvPr/>
        </p:nvPicPr>
        <p:blipFill rotWithShape="1">
          <a:blip r:embed="rId3">
            <a:duotone>
              <a:schemeClr val="bg2">
                <a:shade val="45000"/>
                <a:satMod val="135000"/>
              </a:schemeClr>
              <a:prstClr val="white"/>
            </a:duotone>
            <a:alphaModFix amt="41000"/>
          </a:blip>
          <a:srcRect t="15730"/>
          <a:stretch/>
        </p:blipFill>
        <p:spPr>
          <a:xfrm>
            <a:off x="-3176" y="10"/>
            <a:ext cx="12192000" cy="6857991"/>
          </a:xfrm>
          <a:prstGeom prst="rect">
            <a:avLst/>
          </a:prstGeom>
        </p:spPr>
      </p:pic>
      <p:sp>
        <p:nvSpPr>
          <p:cNvPr id="11" name="Rectangle 10">
            <a:extLst>
              <a:ext uri="{FF2B5EF4-FFF2-40B4-BE49-F238E27FC236}">
                <a16:creationId xmlns:a16="http://schemas.microsoft.com/office/drawing/2014/main" id="{259ACC7A-6809-44E9-A594-85696A6C2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4249541"/>
            <a:ext cx="8968085" cy="1660332"/>
          </a:xfrm>
          <a:prstGeom prst="rect">
            <a:avLst/>
          </a:prstGeom>
          <a:solidFill>
            <a:schemeClr val="bg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1A6B4CF-5E12-28A1-C74C-1B2FD65792E3}"/>
              </a:ext>
            </a:extLst>
          </p:cNvPr>
          <p:cNvSpPr>
            <a:spLocks noGrp="1"/>
          </p:cNvSpPr>
          <p:nvPr>
            <p:ph type="ctrTitle"/>
          </p:nvPr>
        </p:nvSpPr>
        <p:spPr>
          <a:xfrm>
            <a:off x="680322" y="4402667"/>
            <a:ext cx="8133478" cy="940240"/>
          </a:xfrm>
        </p:spPr>
        <p:txBody>
          <a:bodyPr>
            <a:normAutofit fontScale="90000"/>
          </a:bodyPr>
          <a:lstStyle/>
          <a:p>
            <a:r>
              <a:rPr lang="en-US" sz="3400" dirty="0"/>
              <a:t>International Cheese Shop Research Study</a:t>
            </a:r>
          </a:p>
        </p:txBody>
      </p:sp>
      <p:sp>
        <p:nvSpPr>
          <p:cNvPr id="13" name="Rectangle 12">
            <a:extLst>
              <a:ext uri="{FF2B5EF4-FFF2-40B4-BE49-F238E27FC236}">
                <a16:creationId xmlns:a16="http://schemas.microsoft.com/office/drawing/2014/main" id="{79E62B6A-C5F9-4D52-9F66-8777358274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4249541"/>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95F95C49-E748-4D32-8417-22E5B6A6F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02314"/>
            <a:ext cx="8968085" cy="275942"/>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2AE10EC-5E3B-4FC0-B43F-1E44500096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5902314"/>
            <a:ext cx="3080285" cy="275942"/>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308AFDDF-4F1F-7B99-5CD7-1BCB605AA667}"/>
              </a:ext>
            </a:extLst>
          </p:cNvPr>
          <p:cNvSpPr>
            <a:spLocks noGrp="1"/>
          </p:cNvSpPr>
          <p:nvPr>
            <p:ph type="subTitle" idx="1"/>
          </p:nvPr>
        </p:nvSpPr>
        <p:spPr>
          <a:xfrm>
            <a:off x="9494122" y="4551414"/>
            <a:ext cx="2697878" cy="1093366"/>
          </a:xfrm>
        </p:spPr>
        <p:txBody>
          <a:bodyPr>
            <a:normAutofit/>
          </a:bodyPr>
          <a:lstStyle/>
          <a:p>
            <a:r>
              <a:rPr lang="en-US" sz="1600" dirty="0">
                <a:solidFill>
                  <a:schemeClr val="bg2">
                    <a:lumMod val="75000"/>
                  </a:schemeClr>
                </a:solidFill>
              </a:rPr>
              <a:t>Market Research Client Presentation</a:t>
            </a:r>
          </a:p>
          <a:p>
            <a:r>
              <a:rPr lang="en-US" sz="1600" dirty="0">
                <a:solidFill>
                  <a:schemeClr val="bg2">
                    <a:lumMod val="75000"/>
                  </a:schemeClr>
                </a:solidFill>
              </a:rPr>
              <a:t>Briana Barajas</a:t>
            </a:r>
          </a:p>
        </p:txBody>
      </p:sp>
    </p:spTree>
    <p:extLst>
      <p:ext uri="{BB962C8B-B14F-4D97-AF65-F5344CB8AC3E}">
        <p14:creationId xmlns:p14="http://schemas.microsoft.com/office/powerpoint/2010/main" val="1293174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13500000" scaled="1"/>
          <a:tileRect/>
        </a:gra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DBCB3D0-62EC-4D8A-A9E7-991AF662DC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a:extLst>
              <a:ext uri="{FF2B5EF4-FFF2-40B4-BE49-F238E27FC236}">
                <a16:creationId xmlns:a16="http://schemas.microsoft.com/office/drawing/2014/main" id="{62C758D7-9BCC-44AD-98FB-A68CA52677F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7" name="Rectangle 26">
            <a:extLst>
              <a:ext uri="{FF2B5EF4-FFF2-40B4-BE49-F238E27FC236}">
                <a16:creationId xmlns:a16="http://schemas.microsoft.com/office/drawing/2014/main" id="{A890917F-0A64-4C0A-91F8-E4F6BE6AB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Picture 28">
            <a:extLst>
              <a:ext uri="{FF2B5EF4-FFF2-40B4-BE49-F238E27FC236}">
                <a16:creationId xmlns:a16="http://schemas.microsoft.com/office/drawing/2014/main" id="{938C8E05-3629-4B19-A965-0C926F9DE4F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print">
            <a:extLst>
              <a:ext uri="{28A0092B-C50C-407E-A947-70E740481C1C}">
                <a14:useLocalDpi xmlns:a14="http://schemas.microsoft.com/office/drawing/2010/main" val="0"/>
              </a:ext>
            </a:extLst>
          </a:blip>
          <a:stretch>
            <a:fillRect/>
          </a:stretch>
        </p:blipFill>
        <p:spPr>
          <a:xfrm>
            <a:off x="1" y="5006045"/>
            <a:ext cx="4965192" cy="144049"/>
          </a:xfrm>
          <a:prstGeom prst="rect">
            <a:avLst/>
          </a:prstGeom>
        </p:spPr>
      </p:pic>
      <p:sp>
        <p:nvSpPr>
          <p:cNvPr id="31" name="Rectangle 30">
            <a:extLst>
              <a:ext uri="{FF2B5EF4-FFF2-40B4-BE49-F238E27FC236}">
                <a16:creationId xmlns:a16="http://schemas.microsoft.com/office/drawing/2014/main" id="{9044F20B-3F79-4BBD-A9B8-33672B6A4A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B84198E-7C74-FA95-37B5-CCC98BDB658B}"/>
              </a:ext>
            </a:extLst>
          </p:cNvPr>
          <p:cNvSpPr>
            <a:spLocks noGrp="1"/>
          </p:cNvSpPr>
          <p:nvPr>
            <p:ph type="title"/>
          </p:nvPr>
        </p:nvSpPr>
        <p:spPr>
          <a:xfrm>
            <a:off x="354329" y="1984758"/>
            <a:ext cx="3379471" cy="2872359"/>
          </a:xfrm>
        </p:spPr>
        <p:txBody>
          <a:bodyPr vert="horz" lIns="91440" tIns="45720" rIns="91440" bIns="45720" rtlCol="0">
            <a:normAutofit/>
          </a:bodyPr>
          <a:lstStyle/>
          <a:p>
            <a:pPr algn="r"/>
            <a:r>
              <a:rPr lang="en-US" sz="4400" dirty="0"/>
              <a:t>Executive Summary</a:t>
            </a:r>
          </a:p>
        </p:txBody>
      </p:sp>
      <p:graphicFrame>
        <p:nvGraphicFramePr>
          <p:cNvPr id="6" name="Content Placeholder 2">
            <a:extLst>
              <a:ext uri="{FF2B5EF4-FFF2-40B4-BE49-F238E27FC236}">
                <a16:creationId xmlns:a16="http://schemas.microsoft.com/office/drawing/2014/main" id="{2AD47FEC-9150-C1AE-4455-4D105C4DAECF}"/>
              </a:ext>
            </a:extLst>
          </p:cNvPr>
          <p:cNvGraphicFramePr/>
          <p:nvPr>
            <p:extLst>
              <p:ext uri="{D42A27DB-BD31-4B8C-83A1-F6EECF244321}">
                <p14:modId xmlns:p14="http://schemas.microsoft.com/office/powerpoint/2010/main" val="333459533"/>
              </p:ext>
            </p:extLst>
          </p:nvPr>
        </p:nvGraphicFramePr>
        <p:xfrm>
          <a:off x="5437509" y="388620"/>
          <a:ext cx="5955658" cy="614245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311437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05A9BAA-B344-45D2-838C-73856C4B15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10" name="Rectangle 9">
              <a:extLst>
                <a:ext uri="{FF2B5EF4-FFF2-40B4-BE49-F238E27FC236}">
                  <a16:creationId xmlns:a16="http://schemas.microsoft.com/office/drawing/2014/main" id="{390434AA-4632-440E-9AE7-411396A77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D462FD1E-E713-4FD4-8746-671C946723B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pic>
        <p:nvPicPr>
          <p:cNvPr id="5" name="Picture 4" descr="Assorted types of cheese">
            <a:extLst>
              <a:ext uri="{FF2B5EF4-FFF2-40B4-BE49-F238E27FC236}">
                <a16:creationId xmlns:a16="http://schemas.microsoft.com/office/drawing/2014/main" id="{CABF2018-216F-66AE-C57D-5D14B3D56F09}"/>
              </a:ext>
            </a:extLst>
          </p:cNvPr>
          <p:cNvPicPr>
            <a:picLocks noChangeAspect="1"/>
          </p:cNvPicPr>
          <p:nvPr/>
        </p:nvPicPr>
        <p:blipFill rotWithShape="1">
          <a:blip r:embed="rId4"/>
          <a:srcRect r="11323" b="1"/>
          <a:stretch/>
        </p:blipFill>
        <p:spPr>
          <a:xfrm>
            <a:off x="4636008" y="10"/>
            <a:ext cx="7552815" cy="6856310"/>
          </a:xfrm>
          <a:prstGeom prst="rect">
            <a:avLst/>
          </a:prstGeom>
          <a:ln>
            <a:noFill/>
          </a:ln>
          <a:effectLst/>
        </p:spPr>
      </p:pic>
      <p:sp>
        <p:nvSpPr>
          <p:cNvPr id="13" name="Rectangle 12">
            <a:extLst>
              <a:ext uri="{FF2B5EF4-FFF2-40B4-BE49-F238E27FC236}">
                <a16:creationId xmlns:a16="http://schemas.microsoft.com/office/drawing/2014/main" id="{78A4CDE5-C7BC-41E1-8A4A-79E024CC09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501856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1ADDC12-5607-3A7B-FC22-14DB44EF8E4F}"/>
              </a:ext>
            </a:extLst>
          </p:cNvPr>
          <p:cNvSpPr>
            <a:spLocks noGrp="1"/>
          </p:cNvSpPr>
          <p:nvPr>
            <p:ph type="title"/>
          </p:nvPr>
        </p:nvSpPr>
        <p:spPr>
          <a:xfrm>
            <a:off x="712832" y="749451"/>
            <a:ext cx="3912541" cy="1080938"/>
          </a:xfrm>
        </p:spPr>
        <p:txBody>
          <a:bodyPr>
            <a:normAutofit fontScale="90000"/>
          </a:bodyPr>
          <a:lstStyle/>
          <a:p>
            <a:r>
              <a:rPr lang="en-US" sz="2700" dirty="0"/>
              <a:t>Background	  —  International Cheese Shop</a:t>
            </a:r>
          </a:p>
        </p:txBody>
      </p:sp>
      <p:pic>
        <p:nvPicPr>
          <p:cNvPr id="15" name="Picture 14">
            <a:extLst>
              <a:ext uri="{FF2B5EF4-FFF2-40B4-BE49-F238E27FC236}">
                <a16:creationId xmlns:a16="http://schemas.microsoft.com/office/drawing/2014/main" id="{025C7952-5703-489E-8DBD-F2EFAC8EEB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2" y="1970240"/>
            <a:ext cx="5029200" cy="202738"/>
          </a:xfrm>
          <a:prstGeom prst="rect">
            <a:avLst/>
          </a:prstGeom>
        </p:spPr>
      </p:pic>
      <p:sp>
        <p:nvSpPr>
          <p:cNvPr id="3" name="Content Placeholder 2">
            <a:extLst>
              <a:ext uri="{FF2B5EF4-FFF2-40B4-BE49-F238E27FC236}">
                <a16:creationId xmlns:a16="http://schemas.microsoft.com/office/drawing/2014/main" id="{FE08741D-67BA-DDEA-0DDE-9E1480C2EF62}"/>
              </a:ext>
            </a:extLst>
          </p:cNvPr>
          <p:cNvSpPr>
            <a:spLocks noGrp="1"/>
          </p:cNvSpPr>
          <p:nvPr>
            <p:ph idx="1"/>
          </p:nvPr>
        </p:nvSpPr>
        <p:spPr>
          <a:xfrm>
            <a:off x="353291" y="2312828"/>
            <a:ext cx="4021282" cy="3935571"/>
          </a:xfrm>
        </p:spPr>
        <p:txBody>
          <a:bodyPr>
            <a:normAutofit/>
          </a:bodyPr>
          <a:lstStyle/>
          <a:p>
            <a:r>
              <a:rPr lang="en-US" sz="1600" dirty="0"/>
              <a:t>Purveyor of specialty cheeses in San Francisco</a:t>
            </a:r>
          </a:p>
          <a:p>
            <a:r>
              <a:rPr lang="en-US" sz="1600" dirty="0"/>
              <a:t>Two new cheese shops opening in area</a:t>
            </a:r>
          </a:p>
          <a:p>
            <a:r>
              <a:rPr lang="en-US" sz="1600" dirty="0"/>
              <a:t>Stay Competitive</a:t>
            </a:r>
          </a:p>
          <a:p>
            <a:endParaRPr lang="en-US" sz="1600" dirty="0"/>
          </a:p>
          <a:p>
            <a:r>
              <a:rPr lang="en-US" sz="1600" dirty="0"/>
              <a:t>Problems Identified:</a:t>
            </a:r>
          </a:p>
          <a:p>
            <a:pPr lvl="1"/>
            <a:r>
              <a:rPr lang="en-US" sz="1600" dirty="0"/>
              <a:t>Overall Customer Satisfaction</a:t>
            </a:r>
          </a:p>
          <a:p>
            <a:pPr lvl="1"/>
            <a:r>
              <a:rPr lang="en-US" sz="1600" dirty="0"/>
              <a:t>Improve Satisfaction Levels</a:t>
            </a:r>
          </a:p>
          <a:p>
            <a:pPr marL="1090613" lvl="2" indent="-290513"/>
            <a:r>
              <a:rPr lang="en-US" sz="1600" dirty="0"/>
              <a:t>Upgrade Service Performance</a:t>
            </a:r>
          </a:p>
          <a:p>
            <a:pPr marL="1090613" lvl="2" indent="-290513"/>
            <a:r>
              <a:rPr lang="en-US" sz="1600" dirty="0"/>
              <a:t>Offering Additional Services</a:t>
            </a:r>
          </a:p>
        </p:txBody>
      </p:sp>
    </p:spTree>
    <p:extLst>
      <p:ext uri="{BB962C8B-B14F-4D97-AF65-F5344CB8AC3E}">
        <p14:creationId xmlns:p14="http://schemas.microsoft.com/office/powerpoint/2010/main" val="2779689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4055289-E0C6-4BD3-83C1-D3C305932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4" descr="Graph">
            <a:extLst>
              <a:ext uri="{FF2B5EF4-FFF2-40B4-BE49-F238E27FC236}">
                <a16:creationId xmlns:a16="http://schemas.microsoft.com/office/drawing/2014/main" id="{A6A342AB-D557-7E7E-5E1A-72B3BCE96BAC}"/>
              </a:ext>
            </a:extLst>
          </p:cNvPr>
          <p:cNvPicPr>
            <a:picLocks noChangeAspect="1"/>
          </p:cNvPicPr>
          <p:nvPr/>
        </p:nvPicPr>
        <p:blipFill rotWithShape="1">
          <a:blip r:embed="rId3"/>
          <a:srcRect t="3674" b="6326"/>
          <a:stretch/>
        </p:blipFill>
        <p:spPr>
          <a:xfrm>
            <a:off x="20" y="-1"/>
            <a:ext cx="12191980" cy="6858001"/>
          </a:xfrm>
          <a:prstGeom prst="rect">
            <a:avLst/>
          </a:prstGeom>
        </p:spPr>
      </p:pic>
      <p:sp>
        <p:nvSpPr>
          <p:cNvPr id="22" name="Rectangle 21">
            <a:extLst>
              <a:ext uri="{FF2B5EF4-FFF2-40B4-BE49-F238E27FC236}">
                <a16:creationId xmlns:a16="http://schemas.microsoft.com/office/drawing/2014/main" id="{3D0E302E-D9CD-4301-A67C-2F0F43791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2116667"/>
            <a:ext cx="10439400" cy="3793206"/>
          </a:xfrm>
          <a:prstGeom prst="rect">
            <a:avLst/>
          </a:prstGeom>
          <a:solidFill>
            <a:schemeClr val="bg1">
              <a:lumMod val="95000"/>
              <a:lumOff val="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4" name="Picture 23">
            <a:extLst>
              <a:ext uri="{FF2B5EF4-FFF2-40B4-BE49-F238E27FC236}">
                <a16:creationId xmlns:a16="http://schemas.microsoft.com/office/drawing/2014/main" id="{CA457133-9802-4229-B919-FF91AE235C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sp>
        <p:nvSpPr>
          <p:cNvPr id="26" name="Rectangle 25">
            <a:extLst>
              <a:ext uri="{FF2B5EF4-FFF2-40B4-BE49-F238E27FC236}">
                <a16:creationId xmlns:a16="http://schemas.microsoft.com/office/drawing/2014/main" id="{35174CBE-3C8C-4936-BADC-26BFB4F07F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609600"/>
            <a:ext cx="10437812" cy="1368198"/>
          </a:xfrm>
          <a:prstGeom prst="rect">
            <a:avLst/>
          </a:prstGeom>
          <a:solidFill>
            <a:schemeClr val="bg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F67070D-781C-D6EC-5B7E-3F71AA1C8497}"/>
              </a:ext>
            </a:extLst>
          </p:cNvPr>
          <p:cNvSpPr>
            <a:spLocks noGrp="1"/>
          </p:cNvSpPr>
          <p:nvPr>
            <p:ph type="title"/>
          </p:nvPr>
        </p:nvSpPr>
        <p:spPr>
          <a:xfrm>
            <a:off x="680321" y="753228"/>
            <a:ext cx="9613861" cy="1080938"/>
          </a:xfrm>
        </p:spPr>
        <p:txBody>
          <a:bodyPr>
            <a:normAutofit/>
          </a:bodyPr>
          <a:lstStyle/>
          <a:p>
            <a:r>
              <a:rPr lang="en-US" dirty="0"/>
              <a:t>Research Objective</a:t>
            </a:r>
          </a:p>
        </p:txBody>
      </p:sp>
      <p:pic>
        <p:nvPicPr>
          <p:cNvPr id="28" name="Picture 27">
            <a:extLst>
              <a:ext uri="{FF2B5EF4-FFF2-40B4-BE49-F238E27FC236}">
                <a16:creationId xmlns:a16="http://schemas.microsoft.com/office/drawing/2014/main" id="{74CBD692-4D03-4764-98E3-F9578385786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30" name="Rectangle 29">
            <a:extLst>
              <a:ext uri="{FF2B5EF4-FFF2-40B4-BE49-F238E27FC236}">
                <a16:creationId xmlns:a16="http://schemas.microsoft.com/office/drawing/2014/main" id="{932BC668-4D51-4090-89E3-5613B832E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BD04EE83-8546-E3C7-FBA4-AE28EE75FE7E}"/>
              </a:ext>
            </a:extLst>
          </p:cNvPr>
          <p:cNvSpPr>
            <a:spLocks noGrp="1"/>
          </p:cNvSpPr>
          <p:nvPr>
            <p:ph idx="1"/>
          </p:nvPr>
        </p:nvSpPr>
        <p:spPr>
          <a:xfrm>
            <a:off x="680321" y="2336873"/>
            <a:ext cx="9613861" cy="3395060"/>
          </a:xfrm>
        </p:spPr>
        <p:txBody>
          <a:bodyPr anchor="ctr">
            <a:normAutofit/>
          </a:bodyPr>
          <a:lstStyle/>
          <a:p>
            <a:pPr marL="0" indent="0">
              <a:buNone/>
            </a:pPr>
            <a:r>
              <a:rPr lang="en-US" dirty="0"/>
              <a:t>To determine what factors contribute most to customer satisfaction among the target market.</a:t>
            </a:r>
          </a:p>
          <a:p>
            <a:endParaRPr lang="en-US" dirty="0"/>
          </a:p>
          <a:p>
            <a:endParaRPr lang="en-US" dirty="0"/>
          </a:p>
        </p:txBody>
      </p:sp>
    </p:spTree>
    <p:extLst>
      <p:ext uri="{BB962C8B-B14F-4D97-AF65-F5344CB8AC3E}">
        <p14:creationId xmlns:p14="http://schemas.microsoft.com/office/powerpoint/2010/main" val="374921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10800000" scaled="1"/>
          <a:tileRect/>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2A773CA-28F4-49C2-BFA3-49A5867C7A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5D7C72BA-4476-4E4B-BC37-9A75FD0C5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3009A16D-868B-4145-BBC6-555098537E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3992EB33-38E1-4175-8EE2-9BB8CC159C7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print">
            <a:extLst>
              <a:ext uri="{28A0092B-C50C-407E-A947-70E740481C1C}">
                <a14:useLocalDpi xmlns:a14="http://schemas.microsoft.com/office/drawing/2010/main" val="0"/>
              </a:ext>
            </a:extLst>
          </a:blip>
          <a:stretch>
            <a:fillRect/>
          </a:stretch>
        </p:blipFill>
        <p:spPr>
          <a:xfrm>
            <a:off x="1" y="5006045"/>
            <a:ext cx="4965192" cy="144668"/>
          </a:xfrm>
          <a:prstGeom prst="rect">
            <a:avLst/>
          </a:prstGeom>
        </p:spPr>
      </p:pic>
      <p:sp>
        <p:nvSpPr>
          <p:cNvPr id="17" name="Rectangle 16">
            <a:extLst>
              <a:ext uri="{FF2B5EF4-FFF2-40B4-BE49-F238E27FC236}">
                <a16:creationId xmlns:a16="http://schemas.microsoft.com/office/drawing/2014/main" id="{2DCAE5CF-5D29-4779-83E1-BDB64E4F3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F67070D-781C-D6EC-5B7E-3F71AA1C8497}"/>
              </a:ext>
            </a:extLst>
          </p:cNvPr>
          <p:cNvSpPr>
            <a:spLocks noGrp="1"/>
          </p:cNvSpPr>
          <p:nvPr>
            <p:ph type="title"/>
          </p:nvPr>
        </p:nvSpPr>
        <p:spPr>
          <a:xfrm>
            <a:off x="680321" y="2063262"/>
            <a:ext cx="3739279" cy="2661052"/>
          </a:xfrm>
        </p:spPr>
        <p:txBody>
          <a:bodyPr>
            <a:normAutofit/>
          </a:bodyPr>
          <a:lstStyle/>
          <a:p>
            <a:pPr algn="r"/>
            <a:r>
              <a:rPr lang="en-US" sz="4400" dirty="0"/>
              <a:t>Research Questions</a:t>
            </a:r>
          </a:p>
        </p:txBody>
      </p:sp>
      <p:graphicFrame>
        <p:nvGraphicFramePr>
          <p:cNvPr id="6" name="Content Placeholder 2">
            <a:extLst>
              <a:ext uri="{FF2B5EF4-FFF2-40B4-BE49-F238E27FC236}">
                <a16:creationId xmlns:a16="http://schemas.microsoft.com/office/drawing/2014/main" id="{B60C2D62-D2AB-4669-8CA8-697AA2753939}"/>
              </a:ext>
            </a:extLst>
          </p:cNvPr>
          <p:cNvGraphicFramePr>
            <a:graphicFrameLocks noGrp="1"/>
          </p:cNvGraphicFramePr>
          <p:nvPr>
            <p:ph idx="1"/>
            <p:extLst>
              <p:ext uri="{D42A27DB-BD31-4B8C-83A1-F6EECF244321}">
                <p14:modId xmlns:p14="http://schemas.microsoft.com/office/powerpoint/2010/main" val="3012561162"/>
              </p:ext>
            </p:extLst>
          </p:nvPr>
        </p:nvGraphicFramePr>
        <p:xfrm>
          <a:off x="5284788" y="639763"/>
          <a:ext cx="6261100" cy="55784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523484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100D021-ED8E-4951-8376-73996A82CD4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Picture 12">
            <a:extLst>
              <a:ext uri="{FF2B5EF4-FFF2-40B4-BE49-F238E27FC236}">
                <a16:creationId xmlns:a16="http://schemas.microsoft.com/office/drawing/2014/main" id="{46FE219C-22F7-4734-B3C1-28E70390CE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5" name="Picture 14">
            <a:extLst>
              <a:ext uri="{FF2B5EF4-FFF2-40B4-BE49-F238E27FC236}">
                <a16:creationId xmlns:a16="http://schemas.microsoft.com/office/drawing/2014/main" id="{EF2EC4B6-5524-4806-8575-59DB6B8F81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a:extLst>
              <a:ext uri="{FF2B5EF4-FFF2-40B4-BE49-F238E27FC236}">
                <a16:creationId xmlns:a16="http://schemas.microsoft.com/office/drawing/2014/main" id="{AD50BBC6-5944-49AE-A819-558AB05AB1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4F2E428D-A109-43BE-8AC2-C83EF031EF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21" name="Rectangle 20">
            <a:extLst>
              <a:ext uri="{FF2B5EF4-FFF2-40B4-BE49-F238E27FC236}">
                <a16:creationId xmlns:a16="http://schemas.microsoft.com/office/drawing/2014/main" id="{5CCD89DF-A084-43AD-9824-83BBBFC81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842DB508-57AC-4491-A95B-0A00DE2608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 name="Rectangle 24">
            <a:extLst>
              <a:ext uri="{FF2B5EF4-FFF2-40B4-BE49-F238E27FC236}">
                <a16:creationId xmlns:a16="http://schemas.microsoft.com/office/drawing/2014/main" id="{11767E27-DCFE-4AA0-B1A2-E019108D7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609600"/>
            <a:ext cx="10437812" cy="1368198"/>
          </a:xfrm>
          <a:prstGeom prst="rect">
            <a:avLst/>
          </a:prstGeom>
          <a:solidFill>
            <a:schemeClr val="bg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4E39F14-1BD7-CE95-AEEA-2F81054E999D}"/>
              </a:ext>
            </a:extLst>
          </p:cNvPr>
          <p:cNvSpPr>
            <a:spLocks noGrp="1"/>
          </p:cNvSpPr>
          <p:nvPr>
            <p:ph type="title"/>
          </p:nvPr>
        </p:nvSpPr>
        <p:spPr>
          <a:xfrm>
            <a:off x="680321" y="753228"/>
            <a:ext cx="9613861" cy="1080938"/>
          </a:xfrm>
        </p:spPr>
        <p:txBody>
          <a:bodyPr vert="horz" lIns="91440" tIns="45720" rIns="91440" bIns="45720" rtlCol="0" anchor="ctr">
            <a:normAutofit/>
          </a:bodyPr>
          <a:lstStyle/>
          <a:p>
            <a:r>
              <a:rPr lang="en-US" dirty="0"/>
              <a:t>Methodology</a:t>
            </a:r>
          </a:p>
        </p:txBody>
      </p:sp>
      <p:sp>
        <p:nvSpPr>
          <p:cNvPr id="27" name="Rectangle 26">
            <a:extLst>
              <a:ext uri="{FF2B5EF4-FFF2-40B4-BE49-F238E27FC236}">
                <a16:creationId xmlns:a16="http://schemas.microsoft.com/office/drawing/2014/main" id="{1C61BEF9-DC90-4AC9-8E25-ED5509D7A1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D64306F4-D304-4F4E-9B08-A8036AF821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2116667"/>
            <a:ext cx="10439400" cy="3793206"/>
          </a:xfrm>
          <a:prstGeom prst="rect">
            <a:avLst/>
          </a:prstGeom>
          <a:solidFill>
            <a:schemeClr val="bg1">
              <a:lumMod val="95000"/>
              <a:lumOff val="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1" name="Picture 30">
            <a:extLst>
              <a:ext uri="{FF2B5EF4-FFF2-40B4-BE49-F238E27FC236}">
                <a16:creationId xmlns:a16="http://schemas.microsoft.com/office/drawing/2014/main" id="{8FACC571-ABDB-4C1F-8A8B-53E362E113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33" name="Picture 32">
            <a:extLst>
              <a:ext uri="{FF2B5EF4-FFF2-40B4-BE49-F238E27FC236}">
                <a16:creationId xmlns:a16="http://schemas.microsoft.com/office/drawing/2014/main" id="{F486E5BD-1557-41D9-A119-D5F62647AB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49" name="Content Placeholder 2">
            <a:extLst>
              <a:ext uri="{FF2B5EF4-FFF2-40B4-BE49-F238E27FC236}">
                <a16:creationId xmlns:a16="http://schemas.microsoft.com/office/drawing/2014/main" id="{E11414A6-E2D4-7A66-EF1A-1ABB16D558BF}"/>
              </a:ext>
            </a:extLst>
          </p:cNvPr>
          <p:cNvSpPr>
            <a:spLocks noGrp="1"/>
          </p:cNvSpPr>
          <p:nvPr>
            <p:ph sz="half" idx="1"/>
          </p:nvPr>
        </p:nvSpPr>
        <p:spPr>
          <a:xfrm>
            <a:off x="394241" y="2358609"/>
            <a:ext cx="8095121" cy="1445797"/>
          </a:xfrm>
        </p:spPr>
        <p:txBody>
          <a:bodyPr>
            <a:noAutofit/>
          </a:bodyPr>
          <a:lstStyle/>
          <a:p>
            <a:pPr marL="0" indent="0" defTabSz="667512">
              <a:spcBef>
                <a:spcPts val="730"/>
              </a:spcBef>
              <a:buNone/>
            </a:pPr>
            <a:r>
              <a:rPr lang="en-US" sz="2190" kern="100" dirty="0">
                <a:solidFill>
                  <a:schemeClr val="tx1"/>
                </a:solidFill>
                <a:latin typeface="Times New Roman" panose="02020603050405020304" pitchFamily="18" charset="0"/>
                <a:ea typeface="+mn-ea"/>
                <a:cs typeface="Times New Roman" panose="02020603050405020304" pitchFamily="18" charset="0"/>
              </a:rPr>
              <a:t>Customer Satisfaction Survey</a:t>
            </a:r>
          </a:p>
          <a:p>
            <a:pPr marL="166878" indent="-166878" defTabSz="667512">
              <a:spcBef>
                <a:spcPts val="730"/>
              </a:spcBef>
            </a:pPr>
            <a:r>
              <a:rPr lang="en-US" sz="2190" kern="100" dirty="0">
                <a:solidFill>
                  <a:schemeClr val="tx1"/>
                </a:solidFill>
                <a:latin typeface="Times New Roman" panose="02020603050405020304" pitchFamily="18" charset="0"/>
                <a:ea typeface="+mn-ea"/>
                <a:cs typeface="Times New Roman" panose="02020603050405020304" pitchFamily="18" charset="0"/>
              </a:rPr>
              <a:t>414 subscribers to </a:t>
            </a:r>
            <a:r>
              <a:rPr lang="en-US" sz="2190" i="1" kern="100" dirty="0">
                <a:solidFill>
                  <a:schemeClr val="tx1"/>
                </a:solidFill>
                <a:latin typeface="Times New Roman" panose="02020603050405020304" pitchFamily="18" charset="0"/>
                <a:ea typeface="+mn-ea"/>
                <a:cs typeface="Times New Roman" panose="02020603050405020304" pitchFamily="18" charset="0"/>
              </a:rPr>
              <a:t>Cheese Gourmet </a:t>
            </a:r>
            <a:r>
              <a:rPr lang="en-US" sz="2190" kern="100" dirty="0">
                <a:solidFill>
                  <a:schemeClr val="tx1"/>
                </a:solidFill>
                <a:latin typeface="Times New Roman" panose="02020603050405020304" pitchFamily="18" charset="0"/>
                <a:ea typeface="+mn-ea"/>
                <a:cs typeface="Times New Roman" panose="02020603050405020304" pitchFamily="18" charset="0"/>
              </a:rPr>
              <a:t>magazine. </a:t>
            </a:r>
          </a:p>
          <a:p>
            <a:pPr marL="166878" indent="-166878" defTabSz="667512">
              <a:spcBef>
                <a:spcPts val="730"/>
              </a:spcBef>
            </a:pPr>
            <a:r>
              <a:rPr lang="en-US" sz="2190" kern="100" dirty="0">
                <a:solidFill>
                  <a:schemeClr val="tx1"/>
                </a:solidFill>
                <a:latin typeface="Times New Roman" panose="02020603050405020304" pitchFamily="18" charset="0"/>
                <a:ea typeface="+mn-ea"/>
                <a:cs typeface="Times New Roman" panose="02020603050405020304" pitchFamily="18" charset="0"/>
              </a:rPr>
              <a:t>Living in San Francisco area</a:t>
            </a:r>
            <a:endParaRPr lang="en-US" sz="30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10276162-949C-689A-D726-7EA9F7BE51D1}"/>
              </a:ext>
            </a:extLst>
          </p:cNvPr>
          <p:cNvSpPr txBox="1"/>
          <p:nvPr/>
        </p:nvSpPr>
        <p:spPr>
          <a:xfrm>
            <a:off x="1797653" y="4062237"/>
            <a:ext cx="7647672" cy="1525902"/>
          </a:xfrm>
          <a:prstGeom prst="rect">
            <a:avLst/>
          </a:prstGeom>
          <a:noFill/>
        </p:spPr>
        <p:txBody>
          <a:bodyPr wrap="square">
            <a:spAutoFit/>
          </a:bodyPr>
          <a:lstStyle/>
          <a:p>
            <a:pPr defTabSz="333756">
              <a:spcAft>
                <a:spcPts val="600"/>
              </a:spcAft>
            </a:pPr>
            <a:r>
              <a:rPr lang="en-US" sz="2336" kern="100" dirty="0">
                <a:solidFill>
                  <a:schemeClr val="tx1"/>
                </a:solidFill>
                <a:latin typeface="Times New Roman" panose="02020603050405020304" pitchFamily="18" charset="0"/>
                <a:ea typeface="+mn-ea"/>
                <a:cs typeface="Times New Roman" panose="02020603050405020304" pitchFamily="18" charset="0"/>
              </a:rPr>
              <a:t>For this study, the target population size is estimated to be 414. At the 95% confidence level, this study will have a margin of error of +/- 5%. The sample size needed will be 200.</a:t>
            </a:r>
            <a:endParaRPr lang="en-US" sz="3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39499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path path="shape">
            <a:fillToRect l="50000" t="50000" r="50000" b="50000"/>
          </a:path>
          <a:tileRect/>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CFC1BB-C5B3-4479-9752-C53221627F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Picture 11">
            <a:extLst>
              <a:ext uri="{FF2B5EF4-FFF2-40B4-BE49-F238E27FC236}">
                <a16:creationId xmlns:a16="http://schemas.microsoft.com/office/drawing/2014/main" id="{C56FCE19-3103-4473-A92E-E38D00FCD00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a:extLst>
              <a:ext uri="{FF2B5EF4-FFF2-40B4-BE49-F238E27FC236}">
                <a16:creationId xmlns:a16="http://schemas.microsoft.com/office/drawing/2014/main" id="{E909C556-FC01-4870-ABC0-8D5C17BD0F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a:extLst>
              <a:ext uri="{FF2B5EF4-FFF2-40B4-BE49-F238E27FC236}">
                <a16:creationId xmlns:a16="http://schemas.microsoft.com/office/drawing/2014/main" id="{C6DB8A24-0DF2-4AB3-9191-C02AB6937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6924F406-F250-4FCF-A28E-52F364A5A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20" name="Group 19">
            <a:extLst>
              <a:ext uri="{FF2B5EF4-FFF2-40B4-BE49-F238E27FC236}">
                <a16:creationId xmlns:a16="http://schemas.microsoft.com/office/drawing/2014/main" id="{7A865E47-4365-4F21-B8EA-13B2C12BCB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21" name="Rectangle 20">
              <a:extLst>
                <a:ext uri="{FF2B5EF4-FFF2-40B4-BE49-F238E27FC236}">
                  <a16:creationId xmlns:a16="http://schemas.microsoft.com/office/drawing/2014/main" id="{0CE24988-BB27-40E5-A961-9FA7ED0DB9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Picture 21">
              <a:extLst>
                <a:ext uri="{FF2B5EF4-FFF2-40B4-BE49-F238E27FC236}">
                  <a16:creationId xmlns:a16="http://schemas.microsoft.com/office/drawing/2014/main" id="{80BDE80E-ADE0-4E16-8F80-306A15F4D3F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sp>
        <p:nvSpPr>
          <p:cNvPr id="4" name="Content Placeholder 3">
            <a:extLst>
              <a:ext uri="{FF2B5EF4-FFF2-40B4-BE49-F238E27FC236}">
                <a16:creationId xmlns:a16="http://schemas.microsoft.com/office/drawing/2014/main" id="{91EE6286-AB47-F31E-629B-D1B18B715953}"/>
              </a:ext>
            </a:extLst>
          </p:cNvPr>
          <p:cNvSpPr>
            <a:spLocks noGrp="1"/>
          </p:cNvSpPr>
          <p:nvPr>
            <p:ph sz="half" idx="2"/>
          </p:nvPr>
        </p:nvSpPr>
        <p:spPr>
          <a:xfrm>
            <a:off x="680322" y="2336873"/>
            <a:ext cx="5041628" cy="3599316"/>
          </a:xfrm>
        </p:spPr>
        <p:txBody>
          <a:bodyPr vert="horz" lIns="91440" tIns="45720" rIns="91440" bIns="45720" rtlCol="0">
            <a:normAutofit/>
          </a:bodyPr>
          <a:lstStyle/>
          <a:p>
            <a:pPr marL="0"/>
            <a:r>
              <a:rPr lang="en-US" dirty="0">
                <a:effectLst/>
              </a:rPr>
              <a:t>Results:</a:t>
            </a:r>
          </a:p>
          <a:p>
            <a:pPr lvl="1"/>
            <a:r>
              <a:rPr lang="en-US" dirty="0">
                <a:effectLst/>
              </a:rPr>
              <a:t>256 respondents of 414 subscribers participated</a:t>
            </a:r>
          </a:p>
          <a:p>
            <a:pPr lvl="1"/>
            <a:r>
              <a:rPr lang="en-US" dirty="0"/>
              <a:t>R</a:t>
            </a:r>
            <a:r>
              <a:rPr lang="en-US" dirty="0">
                <a:effectLst/>
              </a:rPr>
              <a:t>esponse rate of 62% </a:t>
            </a:r>
          </a:p>
          <a:p>
            <a:endParaRPr lang="en-US" sz="2000" dirty="0"/>
          </a:p>
          <a:p>
            <a:r>
              <a:rPr lang="en-US" dirty="0"/>
              <a:t>Higher than i</a:t>
            </a:r>
            <a:r>
              <a:rPr lang="en-US" dirty="0">
                <a:effectLst/>
              </a:rPr>
              <a:t>deal range of 15-30%</a:t>
            </a:r>
          </a:p>
          <a:p>
            <a:r>
              <a:rPr lang="en-US" dirty="0"/>
              <a:t>Interest in topic</a:t>
            </a:r>
          </a:p>
        </p:txBody>
      </p:sp>
      <p:pic>
        <p:nvPicPr>
          <p:cNvPr id="39" name="Picture 5" descr="Graph on document with pen">
            <a:extLst>
              <a:ext uri="{FF2B5EF4-FFF2-40B4-BE49-F238E27FC236}">
                <a16:creationId xmlns:a16="http://schemas.microsoft.com/office/drawing/2014/main" id="{7FEABE70-CD17-FDD3-AE1E-3390B1226C91}"/>
              </a:ext>
            </a:extLst>
          </p:cNvPr>
          <p:cNvPicPr>
            <a:picLocks noChangeAspect="1"/>
          </p:cNvPicPr>
          <p:nvPr/>
        </p:nvPicPr>
        <p:blipFill rotWithShape="1">
          <a:blip r:embed="rId6"/>
          <a:srcRect l="27202" r="13481"/>
          <a:stretch/>
        </p:blipFill>
        <p:spPr>
          <a:xfrm>
            <a:off x="6096000" y="10"/>
            <a:ext cx="6092823" cy="6856310"/>
          </a:xfrm>
          <a:prstGeom prst="rect">
            <a:avLst/>
          </a:prstGeom>
          <a:ln>
            <a:noFill/>
          </a:ln>
          <a:effectLst/>
        </p:spPr>
      </p:pic>
      <p:sp>
        <p:nvSpPr>
          <p:cNvPr id="24" name="Rectangle 23">
            <a:extLst>
              <a:ext uri="{FF2B5EF4-FFF2-40B4-BE49-F238E27FC236}">
                <a16:creationId xmlns:a16="http://schemas.microsoft.com/office/drawing/2014/main" id="{13BC1C09-8FD1-4619-B317-E9EED5E55D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99753"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4E39F14-1BD7-CE95-AEEA-2F81054E999D}"/>
              </a:ext>
            </a:extLst>
          </p:cNvPr>
          <p:cNvSpPr>
            <a:spLocks noGrp="1"/>
          </p:cNvSpPr>
          <p:nvPr>
            <p:ph type="title"/>
          </p:nvPr>
        </p:nvSpPr>
        <p:spPr>
          <a:xfrm>
            <a:off x="680321" y="753228"/>
            <a:ext cx="5041629" cy="1080938"/>
          </a:xfrm>
        </p:spPr>
        <p:txBody>
          <a:bodyPr vert="horz" lIns="91440" tIns="45720" rIns="91440" bIns="45720" rtlCol="0" anchor="ctr">
            <a:normAutofit/>
          </a:bodyPr>
          <a:lstStyle/>
          <a:p>
            <a:r>
              <a:rPr lang="en-US" dirty="0"/>
              <a:t>Response Rate</a:t>
            </a:r>
          </a:p>
        </p:txBody>
      </p:sp>
      <p:pic>
        <p:nvPicPr>
          <p:cNvPr id="26" name="Picture 25">
            <a:extLst>
              <a:ext uri="{FF2B5EF4-FFF2-40B4-BE49-F238E27FC236}">
                <a16:creationId xmlns:a16="http://schemas.microsoft.com/office/drawing/2014/main" id="{D3143E80-C928-46DB-9299-0BD06348A9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0"/>
            <a:ext cx="6492240" cy="261714"/>
          </a:xfrm>
          <a:prstGeom prst="rect">
            <a:avLst/>
          </a:prstGeom>
        </p:spPr>
      </p:pic>
    </p:spTree>
    <p:extLst>
      <p:ext uri="{BB962C8B-B14F-4D97-AF65-F5344CB8AC3E}">
        <p14:creationId xmlns:p14="http://schemas.microsoft.com/office/powerpoint/2010/main" val="1663860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17E9E-4CE5-F598-4075-5DED2421C408}"/>
              </a:ext>
            </a:extLst>
          </p:cNvPr>
          <p:cNvSpPr>
            <a:spLocks noGrp="1"/>
          </p:cNvSpPr>
          <p:nvPr>
            <p:ph type="title"/>
          </p:nvPr>
        </p:nvSpPr>
        <p:spPr/>
        <p:txBody>
          <a:bodyPr/>
          <a:lstStyle/>
          <a:p>
            <a:r>
              <a:rPr lang="en-US" dirty="0"/>
              <a:t>Qualitative Evaluation		—		Insight</a:t>
            </a:r>
          </a:p>
        </p:txBody>
      </p:sp>
      <p:sp>
        <p:nvSpPr>
          <p:cNvPr id="3" name="Content Placeholder 2">
            <a:extLst>
              <a:ext uri="{FF2B5EF4-FFF2-40B4-BE49-F238E27FC236}">
                <a16:creationId xmlns:a16="http://schemas.microsoft.com/office/drawing/2014/main" id="{F38330F5-5EEE-0DC1-4A0B-E5D986C46932}"/>
              </a:ext>
            </a:extLst>
          </p:cNvPr>
          <p:cNvSpPr>
            <a:spLocks noGrp="1"/>
          </p:cNvSpPr>
          <p:nvPr>
            <p:ph sz="half" idx="1"/>
          </p:nvPr>
        </p:nvSpPr>
        <p:spPr>
          <a:xfrm>
            <a:off x="680320" y="2315179"/>
            <a:ext cx="10765445" cy="1558666"/>
          </a:xfrm>
        </p:spPr>
        <p:txBody>
          <a:bodyPr>
            <a:normAutofit/>
          </a:bodyPr>
          <a:lstStyle/>
          <a:p>
            <a:pPr marL="0" indent="0">
              <a:buNone/>
            </a:pPr>
            <a:r>
              <a:rPr lang="en-US" sz="2800" dirty="0"/>
              <a:t>The ambiance and overall experience within International Cheese Shop are paramount in driving customer satisfaction. Customers highly value the welcoming atmosphere and knowledgeable staff.</a:t>
            </a:r>
          </a:p>
        </p:txBody>
      </p:sp>
      <p:sp>
        <p:nvSpPr>
          <p:cNvPr id="4" name="Content Placeholder 3">
            <a:extLst>
              <a:ext uri="{FF2B5EF4-FFF2-40B4-BE49-F238E27FC236}">
                <a16:creationId xmlns:a16="http://schemas.microsoft.com/office/drawing/2014/main" id="{91CBE1A2-8DF5-0DE6-B9E9-900A336FC44B}"/>
              </a:ext>
            </a:extLst>
          </p:cNvPr>
          <p:cNvSpPr>
            <a:spLocks noGrp="1"/>
          </p:cNvSpPr>
          <p:nvPr>
            <p:ph sz="half" idx="2"/>
          </p:nvPr>
        </p:nvSpPr>
        <p:spPr>
          <a:xfrm>
            <a:off x="738127" y="4668713"/>
            <a:ext cx="5357873" cy="1859203"/>
          </a:xfrm>
        </p:spPr>
        <p:txBody>
          <a:bodyPr>
            <a:normAutofit/>
          </a:bodyPr>
          <a:lstStyle/>
          <a:p>
            <a:r>
              <a:rPr lang="en-US" dirty="0">
                <a:solidFill>
                  <a:schemeClr val="accent1">
                    <a:lumMod val="40000"/>
                    <a:lumOff val="60000"/>
                  </a:schemeClr>
                </a:solidFill>
              </a:rPr>
              <a:t>Emphasizes the importance of: </a:t>
            </a:r>
          </a:p>
          <a:p>
            <a:pPr lvl="1"/>
            <a:r>
              <a:rPr lang="en-US" sz="2200" dirty="0">
                <a:solidFill>
                  <a:schemeClr val="accent1">
                    <a:lumMod val="40000"/>
                    <a:lumOff val="60000"/>
                  </a:schemeClr>
                </a:solidFill>
              </a:rPr>
              <a:t>maintaining an inviting environment</a:t>
            </a:r>
          </a:p>
          <a:p>
            <a:pPr lvl="1"/>
            <a:r>
              <a:rPr lang="en-US" sz="2200" dirty="0">
                <a:solidFill>
                  <a:schemeClr val="accent1">
                    <a:lumMod val="40000"/>
                    <a:lumOff val="60000"/>
                  </a:schemeClr>
                </a:solidFill>
              </a:rPr>
              <a:t>investing in staff training</a:t>
            </a:r>
          </a:p>
        </p:txBody>
      </p:sp>
      <p:sp>
        <p:nvSpPr>
          <p:cNvPr id="5" name="Content Placeholder 3">
            <a:extLst>
              <a:ext uri="{FF2B5EF4-FFF2-40B4-BE49-F238E27FC236}">
                <a16:creationId xmlns:a16="http://schemas.microsoft.com/office/drawing/2014/main" id="{35398D40-A07F-7CD0-6E70-513EC3C6E377}"/>
              </a:ext>
            </a:extLst>
          </p:cNvPr>
          <p:cNvSpPr txBox="1">
            <a:spLocks/>
          </p:cNvSpPr>
          <p:nvPr/>
        </p:nvSpPr>
        <p:spPr>
          <a:xfrm>
            <a:off x="6366416" y="4668713"/>
            <a:ext cx="5357873" cy="15586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r>
              <a:rPr lang="en-US" dirty="0">
                <a:solidFill>
                  <a:schemeClr val="accent1">
                    <a:lumMod val="40000"/>
                    <a:lumOff val="60000"/>
                  </a:schemeClr>
                </a:solidFill>
              </a:rPr>
              <a:t>Efforts should be directed toward creating an educational and welcoming environment</a:t>
            </a:r>
          </a:p>
        </p:txBody>
      </p:sp>
    </p:spTree>
    <p:extLst>
      <p:ext uri="{BB962C8B-B14F-4D97-AF65-F5344CB8AC3E}">
        <p14:creationId xmlns:p14="http://schemas.microsoft.com/office/powerpoint/2010/main" val="386844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17E9E-4CE5-F598-4075-5DED2421C408}"/>
              </a:ext>
            </a:extLst>
          </p:cNvPr>
          <p:cNvSpPr>
            <a:spLocks noGrp="1"/>
          </p:cNvSpPr>
          <p:nvPr>
            <p:ph type="title"/>
          </p:nvPr>
        </p:nvSpPr>
        <p:spPr/>
        <p:txBody>
          <a:bodyPr/>
          <a:lstStyle/>
          <a:p>
            <a:r>
              <a:rPr lang="en-US" dirty="0"/>
              <a:t>Qualitative Evaluation		—		Insight</a:t>
            </a:r>
          </a:p>
        </p:txBody>
      </p:sp>
      <p:sp>
        <p:nvSpPr>
          <p:cNvPr id="3" name="Content Placeholder 2">
            <a:extLst>
              <a:ext uri="{FF2B5EF4-FFF2-40B4-BE49-F238E27FC236}">
                <a16:creationId xmlns:a16="http://schemas.microsoft.com/office/drawing/2014/main" id="{F38330F5-5EEE-0DC1-4A0B-E5D986C46932}"/>
              </a:ext>
            </a:extLst>
          </p:cNvPr>
          <p:cNvSpPr>
            <a:spLocks noGrp="1"/>
          </p:cNvSpPr>
          <p:nvPr>
            <p:ph sz="half" idx="1"/>
          </p:nvPr>
        </p:nvSpPr>
        <p:spPr>
          <a:xfrm>
            <a:off x="680320" y="2315179"/>
            <a:ext cx="10765445" cy="1859202"/>
          </a:xfrm>
        </p:spPr>
        <p:txBody>
          <a:bodyPr>
            <a:normAutofit/>
          </a:bodyPr>
          <a:lstStyle/>
          <a:p>
            <a:pPr marL="0" indent="0">
              <a:buNone/>
            </a:pPr>
            <a:r>
              <a:rPr lang="en-US" sz="2800" dirty="0"/>
              <a:t>The diversity and quality of cheese selection significantly drive customer satisfaction. A wide selection of high-quality cheeses, including gourmet, imported, and domestic, play a central role in meeting customer expectations</a:t>
            </a:r>
          </a:p>
        </p:txBody>
      </p:sp>
      <p:sp>
        <p:nvSpPr>
          <p:cNvPr id="4" name="Content Placeholder 3">
            <a:extLst>
              <a:ext uri="{FF2B5EF4-FFF2-40B4-BE49-F238E27FC236}">
                <a16:creationId xmlns:a16="http://schemas.microsoft.com/office/drawing/2014/main" id="{91CBE1A2-8DF5-0DE6-B9E9-900A336FC44B}"/>
              </a:ext>
            </a:extLst>
          </p:cNvPr>
          <p:cNvSpPr>
            <a:spLocks noGrp="1"/>
          </p:cNvSpPr>
          <p:nvPr>
            <p:ph sz="half" idx="2"/>
          </p:nvPr>
        </p:nvSpPr>
        <p:spPr>
          <a:xfrm>
            <a:off x="126125" y="4445877"/>
            <a:ext cx="6240292" cy="2082040"/>
          </a:xfrm>
        </p:spPr>
        <p:txBody>
          <a:bodyPr>
            <a:normAutofit/>
          </a:bodyPr>
          <a:lstStyle/>
          <a:p>
            <a:r>
              <a:rPr lang="en-US" dirty="0">
                <a:solidFill>
                  <a:schemeClr val="accent1">
                    <a:lumMod val="40000"/>
                    <a:lumOff val="60000"/>
                  </a:schemeClr>
                </a:solidFill>
              </a:rPr>
              <a:t>Emphasizes the importance of: </a:t>
            </a:r>
          </a:p>
          <a:p>
            <a:pPr lvl="1"/>
            <a:r>
              <a:rPr lang="en-US" sz="2200" dirty="0">
                <a:solidFill>
                  <a:schemeClr val="accent1">
                    <a:lumMod val="40000"/>
                    <a:lumOff val="60000"/>
                  </a:schemeClr>
                </a:solidFill>
              </a:rPr>
              <a:t>Continuously expanding and curating cheese offerings</a:t>
            </a:r>
          </a:p>
          <a:p>
            <a:pPr lvl="1"/>
            <a:r>
              <a:rPr lang="en-US" sz="2200" dirty="0">
                <a:solidFill>
                  <a:schemeClr val="accent1">
                    <a:lumMod val="40000"/>
                    <a:lumOff val="60000"/>
                  </a:schemeClr>
                </a:solidFill>
              </a:rPr>
              <a:t>Catering to diverse tastes and preferences</a:t>
            </a:r>
          </a:p>
        </p:txBody>
      </p:sp>
      <p:sp>
        <p:nvSpPr>
          <p:cNvPr id="5" name="Content Placeholder 3">
            <a:extLst>
              <a:ext uri="{FF2B5EF4-FFF2-40B4-BE49-F238E27FC236}">
                <a16:creationId xmlns:a16="http://schemas.microsoft.com/office/drawing/2014/main" id="{35398D40-A07F-7CD0-6E70-513EC3C6E377}"/>
              </a:ext>
            </a:extLst>
          </p:cNvPr>
          <p:cNvSpPr txBox="1">
            <a:spLocks/>
          </p:cNvSpPr>
          <p:nvPr/>
        </p:nvSpPr>
        <p:spPr>
          <a:xfrm>
            <a:off x="6708002" y="4445877"/>
            <a:ext cx="5357873" cy="18592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r>
              <a:rPr lang="en-US" dirty="0">
                <a:solidFill>
                  <a:schemeClr val="accent1">
                    <a:lumMod val="40000"/>
                    <a:lumOff val="60000"/>
                  </a:schemeClr>
                </a:solidFill>
              </a:rPr>
              <a:t>Highlights the importance of cheese selection as a key factor</a:t>
            </a:r>
          </a:p>
          <a:p>
            <a:pPr lvl="1"/>
            <a:r>
              <a:rPr lang="en-US" sz="2200" dirty="0">
                <a:solidFill>
                  <a:schemeClr val="accent1">
                    <a:lumMod val="40000"/>
                    <a:lumOff val="60000"/>
                  </a:schemeClr>
                </a:solidFill>
              </a:rPr>
              <a:t>prioritize product diversity and quality</a:t>
            </a:r>
          </a:p>
        </p:txBody>
      </p:sp>
    </p:spTree>
    <p:extLst>
      <p:ext uri="{BB962C8B-B14F-4D97-AF65-F5344CB8AC3E}">
        <p14:creationId xmlns:p14="http://schemas.microsoft.com/office/powerpoint/2010/main" val="2251413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5400000" scaled="1"/>
          <a:tileRect/>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B0FA309-807F-4C17-98EF-A3BA7388E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2642A87B-CAE9-4F8F-B293-28388E45D9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C8FA1749-B91A-40E7-AD01-0B9C9C6AF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3B7A934F-FFF7-4353-83D3-4EF66E93EEF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print">
            <a:extLst>
              <a:ext uri="{28A0092B-C50C-407E-A947-70E740481C1C}">
                <a14:useLocalDpi xmlns:a14="http://schemas.microsoft.com/office/drawing/2010/main" val="0"/>
              </a:ext>
            </a:extLst>
          </a:blip>
          <a:stretch>
            <a:fillRect/>
          </a:stretch>
        </p:blipFill>
        <p:spPr>
          <a:xfrm>
            <a:off x="1" y="5006045"/>
            <a:ext cx="4965192" cy="144668"/>
          </a:xfrm>
          <a:prstGeom prst="rect">
            <a:avLst/>
          </a:prstGeom>
        </p:spPr>
      </p:pic>
      <p:sp>
        <p:nvSpPr>
          <p:cNvPr id="17" name="Rectangle 16">
            <a:extLst>
              <a:ext uri="{FF2B5EF4-FFF2-40B4-BE49-F238E27FC236}">
                <a16:creationId xmlns:a16="http://schemas.microsoft.com/office/drawing/2014/main" id="{700676C8-6DE8-47DD-9A23-D42063A12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Content Placeholder 2">
            <a:extLst>
              <a:ext uri="{FF2B5EF4-FFF2-40B4-BE49-F238E27FC236}">
                <a16:creationId xmlns:a16="http://schemas.microsoft.com/office/drawing/2014/main" id="{A79A3A72-CC66-7522-816C-B6F8EBB5EA67}"/>
              </a:ext>
            </a:extLst>
          </p:cNvPr>
          <p:cNvSpPr txBox="1">
            <a:spLocks/>
          </p:cNvSpPr>
          <p:nvPr/>
        </p:nvSpPr>
        <p:spPr>
          <a:xfrm>
            <a:off x="5233027" y="677449"/>
            <a:ext cx="6553728" cy="5679106"/>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buNone/>
            </a:pPr>
            <a:r>
              <a:rPr lang="en-US" sz="2200" dirty="0">
                <a:solidFill>
                  <a:srgbClr val="FFFFFF"/>
                </a:solidFill>
                <a:effectLst/>
              </a:rPr>
              <a:t>The wide selection of cheeses, specifically gourmet and imported, drive customer satisfaction when respondents are visiting their favorite cheese shop. </a:t>
            </a:r>
          </a:p>
          <a:p>
            <a:pPr marL="0" indent="0">
              <a:buNone/>
            </a:pPr>
            <a:endParaRPr lang="en-US" sz="2000" dirty="0">
              <a:solidFill>
                <a:srgbClr val="FFFFFF"/>
              </a:solidFill>
              <a:effectLst/>
            </a:endParaRPr>
          </a:p>
          <a:p>
            <a:r>
              <a:rPr lang="en-US" sz="2200" dirty="0">
                <a:solidFill>
                  <a:srgbClr val="FFFFFF"/>
                </a:solidFill>
              </a:rPr>
              <a:t>Most important part of service received:</a:t>
            </a:r>
          </a:p>
          <a:p>
            <a:pPr lvl="1"/>
            <a:r>
              <a:rPr lang="en-US" dirty="0">
                <a:solidFill>
                  <a:srgbClr val="FFFFFF"/>
                </a:solidFill>
              </a:rPr>
              <a:t>Gourmet cheeses</a:t>
            </a:r>
          </a:p>
          <a:p>
            <a:pPr lvl="1"/>
            <a:r>
              <a:rPr lang="en-US" dirty="0">
                <a:solidFill>
                  <a:srgbClr val="FFFFFF"/>
                </a:solidFill>
              </a:rPr>
              <a:t>Imported cheeses</a:t>
            </a:r>
          </a:p>
          <a:p>
            <a:pPr lvl="1"/>
            <a:r>
              <a:rPr lang="en-US" dirty="0">
                <a:solidFill>
                  <a:srgbClr val="FFFFFF"/>
                </a:solidFill>
              </a:rPr>
              <a:t>Large selection of cheeses</a:t>
            </a:r>
          </a:p>
          <a:p>
            <a:pPr marL="457200" lvl="1" indent="0">
              <a:buNone/>
            </a:pPr>
            <a:endParaRPr lang="en-US" dirty="0">
              <a:solidFill>
                <a:srgbClr val="FFFFFF"/>
              </a:solidFill>
              <a:effectLst/>
            </a:endParaRPr>
          </a:p>
          <a:p>
            <a:r>
              <a:rPr lang="en-US" sz="2200" dirty="0">
                <a:solidFill>
                  <a:srgbClr val="FFFFFF"/>
                </a:solidFill>
                <a:effectLst/>
              </a:rPr>
              <a:t>A variety of factors played a key role in this insight:</a:t>
            </a:r>
          </a:p>
          <a:p>
            <a:pPr lvl="1"/>
            <a:r>
              <a:rPr lang="en-US" dirty="0">
                <a:solidFill>
                  <a:srgbClr val="FFFFFF"/>
                </a:solidFill>
              </a:rPr>
              <a:t>Age</a:t>
            </a:r>
          </a:p>
          <a:p>
            <a:pPr lvl="1"/>
            <a:r>
              <a:rPr lang="en-US" dirty="0">
                <a:solidFill>
                  <a:srgbClr val="FFFFFF"/>
                </a:solidFill>
              </a:rPr>
              <a:t>Gender</a:t>
            </a:r>
          </a:p>
          <a:p>
            <a:pPr lvl="1"/>
            <a:r>
              <a:rPr lang="en-US" dirty="0">
                <a:solidFill>
                  <a:srgbClr val="FFFFFF"/>
                </a:solidFill>
              </a:rPr>
              <a:t>Rent/Own</a:t>
            </a:r>
          </a:p>
        </p:txBody>
      </p:sp>
      <p:sp>
        <p:nvSpPr>
          <p:cNvPr id="3" name="TextBox 2">
            <a:extLst>
              <a:ext uri="{FF2B5EF4-FFF2-40B4-BE49-F238E27FC236}">
                <a16:creationId xmlns:a16="http://schemas.microsoft.com/office/drawing/2014/main" id="{C398ACF2-E007-816D-8AAD-684813CAB286}"/>
              </a:ext>
            </a:extLst>
          </p:cNvPr>
          <p:cNvSpPr txBox="1"/>
          <p:nvPr/>
        </p:nvSpPr>
        <p:spPr>
          <a:xfrm>
            <a:off x="405245" y="2036618"/>
            <a:ext cx="4405745" cy="2123658"/>
          </a:xfrm>
          <a:prstGeom prst="rect">
            <a:avLst/>
          </a:prstGeom>
          <a:noFill/>
        </p:spPr>
        <p:txBody>
          <a:bodyPr wrap="square" rtlCol="0">
            <a:spAutoFit/>
          </a:bodyPr>
          <a:lstStyle/>
          <a:p>
            <a:r>
              <a:rPr lang="en-US" sz="4400" dirty="0">
                <a:latin typeface="+mj-lt"/>
              </a:rPr>
              <a:t>Survey Analysis –</a:t>
            </a:r>
          </a:p>
          <a:p>
            <a:endParaRPr lang="en-US" sz="4400" dirty="0">
              <a:latin typeface="+mj-lt"/>
            </a:endParaRPr>
          </a:p>
          <a:p>
            <a:r>
              <a:rPr lang="en-US" sz="4400" dirty="0">
                <a:latin typeface="+mj-lt"/>
              </a:rPr>
              <a:t> 			Insight </a:t>
            </a:r>
          </a:p>
        </p:txBody>
      </p:sp>
    </p:spTree>
    <p:extLst>
      <p:ext uri="{BB962C8B-B14F-4D97-AF65-F5344CB8AC3E}">
        <p14:creationId xmlns:p14="http://schemas.microsoft.com/office/powerpoint/2010/main" val="4075962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321D838-2C7E-4177-9DD3-DAC78324A2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a:extLst>
              <a:ext uri="{FF2B5EF4-FFF2-40B4-BE49-F238E27FC236}">
                <a16:creationId xmlns:a16="http://schemas.microsoft.com/office/drawing/2014/main" id="{224C28B3-E902-49D1-98A0-582D277A0E0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2" name="Picture 11">
            <a:extLst>
              <a:ext uri="{FF2B5EF4-FFF2-40B4-BE49-F238E27FC236}">
                <a16:creationId xmlns:a16="http://schemas.microsoft.com/office/drawing/2014/main" id="{F3A6C14C-E755-4A02-821B-6EA2D4C9F20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4" name="Rectangle 13">
            <a:extLst>
              <a:ext uri="{FF2B5EF4-FFF2-40B4-BE49-F238E27FC236}">
                <a16:creationId xmlns:a16="http://schemas.microsoft.com/office/drawing/2014/main" id="{6478287C-E119-4E9C-95B0-518478BD9D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EA4A294F-6D36-425B-8632-27FD6A284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8" name="Rectangle 17">
            <a:extLst>
              <a:ext uri="{FF2B5EF4-FFF2-40B4-BE49-F238E27FC236}">
                <a16:creationId xmlns:a16="http://schemas.microsoft.com/office/drawing/2014/main" id="{C610D2AE-07EF-436A-9755-AA8DF4B93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a:extLst>
              <a:ext uri="{FF2B5EF4-FFF2-40B4-BE49-F238E27FC236}">
                <a16:creationId xmlns:a16="http://schemas.microsoft.com/office/drawing/2014/main" id="{6CACDD17-9043-46DF-882D-420365B79C1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2" name="Rectangle 21">
            <a:extLst>
              <a:ext uri="{FF2B5EF4-FFF2-40B4-BE49-F238E27FC236}">
                <a16:creationId xmlns:a16="http://schemas.microsoft.com/office/drawing/2014/main" id="{CF2D8AD5-434A-4C0E-9F5B-C1AFD645F3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4" name="Picture 23">
            <a:extLst>
              <a:ext uri="{FF2B5EF4-FFF2-40B4-BE49-F238E27FC236}">
                <a16:creationId xmlns:a16="http://schemas.microsoft.com/office/drawing/2014/main" id="{E92B246D-47CC-40F8-8DE7-B65D409E9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sp>
        <p:nvSpPr>
          <p:cNvPr id="2" name="Title 1">
            <a:extLst>
              <a:ext uri="{FF2B5EF4-FFF2-40B4-BE49-F238E27FC236}">
                <a16:creationId xmlns:a16="http://schemas.microsoft.com/office/drawing/2014/main" id="{82127667-A8CE-2216-3A39-FCC8474D588C}"/>
              </a:ext>
            </a:extLst>
          </p:cNvPr>
          <p:cNvSpPr txBox="1">
            <a:spLocks/>
          </p:cNvSpPr>
          <p:nvPr/>
        </p:nvSpPr>
        <p:spPr>
          <a:xfrm>
            <a:off x="107979" y="682729"/>
            <a:ext cx="4848071" cy="1360640"/>
          </a:xfrm>
          <a:prstGeom prst="rect">
            <a:avLst/>
          </a:prstGeom>
        </p:spPr>
        <p:txBody>
          <a:bodyPr vert="horz" lIns="91440" tIns="45720" rIns="91440" bIns="45720" rtlCol="0">
            <a:normAutofit lnSpcReduction="10000"/>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spcAft>
                <a:spcPts val="600"/>
              </a:spcAft>
            </a:pPr>
            <a:r>
              <a:rPr lang="en-US" sz="2400" dirty="0"/>
              <a:t>Q.1: What is the most important part of the service you receive at your favorite specialty cheese shop?</a:t>
            </a:r>
            <a:endParaRPr lang="en-US" sz="4400" dirty="0">
              <a:latin typeface="+mn-lt"/>
              <a:ea typeface="+mn-ea"/>
              <a:cs typeface="+mn-cs"/>
            </a:endParaRPr>
          </a:p>
        </p:txBody>
      </p:sp>
      <p:graphicFrame>
        <p:nvGraphicFramePr>
          <p:cNvPr id="3" name="Picture Placeholder 4">
            <a:extLst>
              <a:ext uri="{FF2B5EF4-FFF2-40B4-BE49-F238E27FC236}">
                <a16:creationId xmlns:a16="http://schemas.microsoft.com/office/drawing/2014/main" id="{03454DE1-D868-7B15-37FA-8E7150708F64}"/>
              </a:ext>
            </a:extLst>
          </p:cNvPr>
          <p:cNvGraphicFramePr>
            <a:graphicFrameLocks/>
          </p:cNvGraphicFramePr>
          <p:nvPr>
            <p:extLst>
              <p:ext uri="{D42A27DB-BD31-4B8C-83A1-F6EECF244321}">
                <p14:modId xmlns:p14="http://schemas.microsoft.com/office/powerpoint/2010/main" val="3496870737"/>
              </p:ext>
            </p:extLst>
          </p:nvPr>
        </p:nvGraphicFramePr>
        <p:xfrm>
          <a:off x="4402288" y="280219"/>
          <a:ext cx="7470164" cy="6415549"/>
        </p:xfrm>
        <a:graphic>
          <a:graphicData uri="http://schemas.openxmlformats.org/drawingml/2006/chart">
            <c:chart xmlns:c="http://schemas.openxmlformats.org/drawingml/2006/chart" xmlns:r="http://schemas.openxmlformats.org/officeDocument/2006/relationships" r:id="rId6"/>
          </a:graphicData>
        </a:graphic>
      </p:graphicFrame>
      <p:sp>
        <p:nvSpPr>
          <p:cNvPr id="6" name="TextBox 5">
            <a:extLst>
              <a:ext uri="{FF2B5EF4-FFF2-40B4-BE49-F238E27FC236}">
                <a16:creationId xmlns:a16="http://schemas.microsoft.com/office/drawing/2014/main" id="{ADCC350A-8863-80B4-B0E7-B5A929D657A4}"/>
              </a:ext>
            </a:extLst>
          </p:cNvPr>
          <p:cNvSpPr txBox="1"/>
          <p:nvPr/>
        </p:nvSpPr>
        <p:spPr>
          <a:xfrm>
            <a:off x="317960" y="2587398"/>
            <a:ext cx="3766368" cy="2808589"/>
          </a:xfrm>
          <a:prstGeom prst="rect">
            <a:avLst/>
          </a:prstGeom>
          <a:noFill/>
        </p:spPr>
        <p:txBody>
          <a:bodyPr wrap="square">
            <a:spAutoFit/>
          </a:bodyPr>
          <a:lstStyle/>
          <a:p>
            <a:pPr>
              <a:lnSpc>
                <a:spcPct val="150000"/>
              </a:lnSpc>
            </a:pPr>
            <a:r>
              <a:rPr lang="en-US" sz="2200" dirty="0">
                <a:ea typeface="Calibri" panose="020F0502020204030204" pitchFamily="34" charset="0"/>
              </a:rPr>
              <a:t>Most important part of service received:</a:t>
            </a:r>
          </a:p>
          <a:p>
            <a:pPr marL="742950" lvl="1" indent="-285750">
              <a:lnSpc>
                <a:spcPct val="150000"/>
              </a:lnSpc>
              <a:buFont typeface="Arial" panose="020B0604020202020204" pitchFamily="34" charset="0"/>
              <a:buChar char="•"/>
            </a:pPr>
            <a:r>
              <a:rPr lang="en-US" sz="1900" dirty="0">
                <a:ea typeface="Calibri" panose="020F0502020204030204" pitchFamily="34" charset="0"/>
              </a:rPr>
              <a:t>Gourmet cheeses</a:t>
            </a:r>
          </a:p>
          <a:p>
            <a:pPr marL="742950" lvl="1" indent="-285750">
              <a:lnSpc>
                <a:spcPct val="150000"/>
              </a:lnSpc>
              <a:buFont typeface="Arial" panose="020B0604020202020204" pitchFamily="34" charset="0"/>
              <a:buChar char="•"/>
            </a:pPr>
            <a:r>
              <a:rPr lang="en-US" sz="1900" dirty="0">
                <a:ea typeface="Calibri" panose="020F0502020204030204" pitchFamily="34" charset="0"/>
              </a:rPr>
              <a:t>Imported cheeses</a:t>
            </a:r>
          </a:p>
          <a:p>
            <a:pPr marL="742950" lvl="1" indent="-285750">
              <a:lnSpc>
                <a:spcPct val="150000"/>
              </a:lnSpc>
              <a:buFont typeface="Arial" panose="020B0604020202020204" pitchFamily="34" charset="0"/>
              <a:buChar char="•"/>
            </a:pPr>
            <a:r>
              <a:rPr lang="en-US" sz="1900" dirty="0">
                <a:ea typeface="Calibri" panose="020F0502020204030204" pitchFamily="34" charset="0"/>
              </a:rPr>
              <a:t>Large selection of cheeses</a:t>
            </a:r>
            <a:endParaRPr lang="en-US" sz="1900" dirty="0">
              <a:effectLst/>
              <a:ea typeface="Calibri" panose="020F0502020204030204" pitchFamily="34" charset="0"/>
            </a:endParaRPr>
          </a:p>
        </p:txBody>
      </p:sp>
    </p:spTree>
    <p:extLst>
      <p:ext uri="{BB962C8B-B14F-4D97-AF65-F5344CB8AC3E}">
        <p14:creationId xmlns:p14="http://schemas.microsoft.com/office/powerpoint/2010/main" val="953823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16200000" scaled="1"/>
          <a:tileRect/>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B0FA309-807F-4C17-98EF-A3BA7388E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2642A87B-CAE9-4F8F-B293-28388E45D9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C8FA1749-B91A-40E7-AD01-0B9C9C6AF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3B7A934F-FFF7-4353-83D3-4EF66E93EEF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print">
            <a:extLst>
              <a:ext uri="{28A0092B-C50C-407E-A947-70E740481C1C}">
                <a14:useLocalDpi xmlns:a14="http://schemas.microsoft.com/office/drawing/2010/main" val="0"/>
              </a:ext>
            </a:extLst>
          </a:blip>
          <a:stretch>
            <a:fillRect/>
          </a:stretch>
        </p:blipFill>
        <p:spPr>
          <a:xfrm>
            <a:off x="1" y="5006045"/>
            <a:ext cx="4965192" cy="144668"/>
          </a:xfrm>
          <a:prstGeom prst="rect">
            <a:avLst/>
          </a:prstGeom>
        </p:spPr>
      </p:pic>
      <p:sp>
        <p:nvSpPr>
          <p:cNvPr id="17" name="Rectangle 16">
            <a:extLst>
              <a:ext uri="{FF2B5EF4-FFF2-40B4-BE49-F238E27FC236}">
                <a16:creationId xmlns:a16="http://schemas.microsoft.com/office/drawing/2014/main" id="{700676C8-6DE8-47DD-9A23-D42063A12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Content Placeholder 2">
            <a:extLst>
              <a:ext uri="{FF2B5EF4-FFF2-40B4-BE49-F238E27FC236}">
                <a16:creationId xmlns:a16="http://schemas.microsoft.com/office/drawing/2014/main" id="{A79A3A72-CC66-7522-816C-B6F8EBB5EA67}"/>
              </a:ext>
            </a:extLst>
          </p:cNvPr>
          <p:cNvSpPr txBox="1">
            <a:spLocks/>
          </p:cNvSpPr>
          <p:nvPr/>
        </p:nvSpPr>
        <p:spPr>
          <a:xfrm>
            <a:off x="5292317" y="547207"/>
            <a:ext cx="6531087" cy="570473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sz="2200" dirty="0">
                <a:solidFill>
                  <a:srgbClr val="FFFFFF"/>
                </a:solidFill>
                <a:effectLst/>
              </a:rPr>
              <a:t>Overall satisfaction of services, such as friendly staff, location, and cleanliness at International Cheese Shop plays a key factor when customers visit. </a:t>
            </a:r>
          </a:p>
          <a:p>
            <a:pPr marL="0" indent="0">
              <a:buNone/>
            </a:pPr>
            <a:endParaRPr lang="en-US" sz="2000" dirty="0">
              <a:solidFill>
                <a:srgbClr val="FFFFFF"/>
              </a:solidFill>
              <a:effectLst/>
            </a:endParaRPr>
          </a:p>
          <a:p>
            <a:r>
              <a:rPr lang="en-US" sz="2200" dirty="0">
                <a:solidFill>
                  <a:srgbClr val="FFFFFF"/>
                </a:solidFill>
              </a:rPr>
              <a:t>Highest overall satisfaction services:</a:t>
            </a:r>
          </a:p>
          <a:p>
            <a:pPr lvl="1"/>
            <a:r>
              <a:rPr lang="en-US" dirty="0">
                <a:solidFill>
                  <a:srgbClr val="FFFFFF"/>
                </a:solidFill>
                <a:effectLst/>
              </a:rPr>
              <a:t>Good location</a:t>
            </a:r>
          </a:p>
          <a:p>
            <a:pPr lvl="1"/>
            <a:r>
              <a:rPr lang="en-US" dirty="0">
                <a:solidFill>
                  <a:srgbClr val="FFFFFF"/>
                </a:solidFill>
              </a:rPr>
              <a:t>Cleanliness of facility</a:t>
            </a:r>
          </a:p>
          <a:p>
            <a:pPr lvl="1"/>
            <a:r>
              <a:rPr lang="en-US" dirty="0">
                <a:solidFill>
                  <a:srgbClr val="FFFFFF"/>
                </a:solidFill>
                <a:effectLst/>
              </a:rPr>
              <a:t>Friendliness of staff</a:t>
            </a:r>
          </a:p>
          <a:p>
            <a:pPr marL="457200" lvl="1" indent="0">
              <a:buNone/>
            </a:pPr>
            <a:endParaRPr lang="en-US" dirty="0">
              <a:solidFill>
                <a:srgbClr val="FFFFFF"/>
              </a:solidFill>
              <a:effectLst/>
            </a:endParaRPr>
          </a:p>
          <a:p>
            <a:r>
              <a:rPr lang="en-US" sz="2200" dirty="0">
                <a:solidFill>
                  <a:srgbClr val="FFFFFF"/>
                </a:solidFill>
                <a:effectLst/>
              </a:rPr>
              <a:t>A variety of factors played a key role in this insight:</a:t>
            </a:r>
          </a:p>
          <a:p>
            <a:pPr lvl="1"/>
            <a:r>
              <a:rPr lang="en-US" dirty="0">
                <a:solidFill>
                  <a:srgbClr val="FFFFFF"/>
                </a:solidFill>
              </a:rPr>
              <a:t>Gender</a:t>
            </a:r>
          </a:p>
          <a:p>
            <a:pPr lvl="1"/>
            <a:r>
              <a:rPr lang="en-US" dirty="0">
                <a:solidFill>
                  <a:srgbClr val="FFFFFF"/>
                </a:solidFill>
              </a:rPr>
              <a:t>Age</a:t>
            </a:r>
          </a:p>
        </p:txBody>
      </p:sp>
      <p:sp>
        <p:nvSpPr>
          <p:cNvPr id="3" name="TextBox 2">
            <a:extLst>
              <a:ext uri="{FF2B5EF4-FFF2-40B4-BE49-F238E27FC236}">
                <a16:creationId xmlns:a16="http://schemas.microsoft.com/office/drawing/2014/main" id="{C7903205-A68B-DA1B-76D7-D4FA30827172}"/>
              </a:ext>
            </a:extLst>
          </p:cNvPr>
          <p:cNvSpPr txBox="1"/>
          <p:nvPr/>
        </p:nvSpPr>
        <p:spPr>
          <a:xfrm>
            <a:off x="279409" y="2236929"/>
            <a:ext cx="4405745" cy="2123658"/>
          </a:xfrm>
          <a:prstGeom prst="rect">
            <a:avLst/>
          </a:prstGeom>
          <a:noFill/>
        </p:spPr>
        <p:txBody>
          <a:bodyPr wrap="square" rtlCol="0">
            <a:spAutoFit/>
          </a:bodyPr>
          <a:lstStyle/>
          <a:p>
            <a:r>
              <a:rPr lang="en-US" sz="4400" dirty="0">
                <a:latin typeface="+mj-lt"/>
              </a:rPr>
              <a:t>Survey Analysis –</a:t>
            </a:r>
          </a:p>
          <a:p>
            <a:endParaRPr lang="en-US" sz="4400" dirty="0">
              <a:latin typeface="+mj-lt"/>
            </a:endParaRPr>
          </a:p>
          <a:p>
            <a:r>
              <a:rPr lang="en-US" sz="4400" dirty="0">
                <a:latin typeface="+mj-lt"/>
              </a:rPr>
              <a:t> 			Insight </a:t>
            </a:r>
          </a:p>
        </p:txBody>
      </p:sp>
    </p:spTree>
    <p:extLst>
      <p:ext uri="{BB962C8B-B14F-4D97-AF65-F5344CB8AC3E}">
        <p14:creationId xmlns:p14="http://schemas.microsoft.com/office/powerpoint/2010/main" val="866278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8A20A59-6F00-09B6-0258-350DAFFB8EA0}"/>
              </a:ext>
            </a:extLst>
          </p:cNvPr>
          <p:cNvSpPr txBox="1">
            <a:spLocks/>
          </p:cNvSpPr>
          <p:nvPr/>
        </p:nvSpPr>
        <p:spPr>
          <a:xfrm>
            <a:off x="216309" y="329864"/>
            <a:ext cx="11759381" cy="982742"/>
          </a:xfrm>
          <a:prstGeom prst="rect">
            <a:avLst/>
          </a:prstGeom>
        </p:spPr>
        <p:txBody>
          <a:bodyPr vert="horz" lIns="91440" tIns="45720" rIns="91440" bIns="45720" rtlCol="0">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spcAft>
                <a:spcPts val="600"/>
              </a:spcAft>
            </a:pPr>
            <a:r>
              <a:rPr lang="en-US" sz="2700" dirty="0">
                <a:latin typeface="+mn-lt"/>
                <a:ea typeface="+mn-ea"/>
                <a:cs typeface="+mn-cs"/>
              </a:rPr>
              <a:t>Q.2: Please rate your overall satisfaction with our services at International Cheese Shop, where 1 = not at all satisfied and 5 = extremely satisfied.</a:t>
            </a:r>
          </a:p>
        </p:txBody>
      </p:sp>
      <p:graphicFrame>
        <p:nvGraphicFramePr>
          <p:cNvPr id="5" name="Chart 4">
            <a:extLst>
              <a:ext uri="{FF2B5EF4-FFF2-40B4-BE49-F238E27FC236}">
                <a16:creationId xmlns:a16="http://schemas.microsoft.com/office/drawing/2014/main" id="{0F3CA7E0-2211-447C-CC18-D8AA227D3020}"/>
              </a:ext>
            </a:extLst>
          </p:cNvPr>
          <p:cNvGraphicFramePr>
            <a:graphicFrameLocks/>
          </p:cNvGraphicFramePr>
          <p:nvPr>
            <p:extLst>
              <p:ext uri="{D42A27DB-BD31-4B8C-83A1-F6EECF244321}">
                <p14:modId xmlns:p14="http://schemas.microsoft.com/office/powerpoint/2010/main" val="2745936053"/>
              </p:ext>
            </p:extLst>
          </p:nvPr>
        </p:nvGraphicFramePr>
        <p:xfrm>
          <a:off x="103239" y="1445342"/>
          <a:ext cx="11872451" cy="521552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54057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5400000" scaled="1"/>
          <a:tileRect/>
        </a:gra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100D021-ED8E-4951-8376-73996A82CD4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4" name="Picture 13">
            <a:extLst>
              <a:ext uri="{FF2B5EF4-FFF2-40B4-BE49-F238E27FC236}">
                <a16:creationId xmlns:a16="http://schemas.microsoft.com/office/drawing/2014/main" id="{46FE219C-22F7-4734-B3C1-28E70390CE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a:extLst>
              <a:ext uri="{FF2B5EF4-FFF2-40B4-BE49-F238E27FC236}">
                <a16:creationId xmlns:a16="http://schemas.microsoft.com/office/drawing/2014/main" id="{EF2EC4B6-5524-4806-8575-59DB6B8F81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8" name="Rectangle 17">
            <a:extLst>
              <a:ext uri="{FF2B5EF4-FFF2-40B4-BE49-F238E27FC236}">
                <a16:creationId xmlns:a16="http://schemas.microsoft.com/office/drawing/2014/main" id="{AD50BBC6-5944-49AE-A819-558AB05AB1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4F2E428D-A109-43BE-8AC2-C83EF031EF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5CCD89DF-A084-43AD-9824-83BBBFC81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id="{842DB508-57AC-4491-A95B-0A00DE2608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6" name="Rectangle 25">
            <a:extLst>
              <a:ext uri="{FF2B5EF4-FFF2-40B4-BE49-F238E27FC236}">
                <a16:creationId xmlns:a16="http://schemas.microsoft.com/office/drawing/2014/main" id="{11767E27-DCFE-4AA0-B1A2-E019108D7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609600"/>
            <a:ext cx="10437812" cy="1368198"/>
          </a:xfrm>
          <a:prstGeom prst="rect">
            <a:avLst/>
          </a:prstGeom>
          <a:solidFill>
            <a:schemeClr val="bg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58A8C50-B23E-7EC1-CE24-C725E4F117D1}"/>
              </a:ext>
            </a:extLst>
          </p:cNvPr>
          <p:cNvSpPr>
            <a:spLocks noGrp="1"/>
          </p:cNvSpPr>
          <p:nvPr>
            <p:ph type="title"/>
          </p:nvPr>
        </p:nvSpPr>
        <p:spPr>
          <a:xfrm>
            <a:off x="680321" y="753228"/>
            <a:ext cx="9613861" cy="1080938"/>
          </a:xfrm>
        </p:spPr>
        <p:txBody>
          <a:bodyPr vert="horz" lIns="91440" tIns="45720" rIns="91440" bIns="45720" rtlCol="0" anchor="ctr">
            <a:normAutofit/>
          </a:bodyPr>
          <a:lstStyle/>
          <a:p>
            <a:r>
              <a:rPr lang="en-US" dirty="0"/>
              <a:t>Recommendations</a:t>
            </a:r>
          </a:p>
        </p:txBody>
      </p:sp>
      <p:sp>
        <p:nvSpPr>
          <p:cNvPr id="28" name="Rectangle 27">
            <a:extLst>
              <a:ext uri="{FF2B5EF4-FFF2-40B4-BE49-F238E27FC236}">
                <a16:creationId xmlns:a16="http://schemas.microsoft.com/office/drawing/2014/main" id="{1C61BEF9-DC90-4AC9-8E25-ED5509D7A1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D64306F4-D304-4F4E-9B08-A8036AF821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2116667"/>
            <a:ext cx="10439400" cy="3793206"/>
          </a:xfrm>
          <a:prstGeom prst="rect">
            <a:avLst/>
          </a:prstGeom>
          <a:solidFill>
            <a:schemeClr val="bg1">
              <a:lumMod val="95000"/>
              <a:lumOff val="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2" name="Picture 31">
            <a:extLst>
              <a:ext uri="{FF2B5EF4-FFF2-40B4-BE49-F238E27FC236}">
                <a16:creationId xmlns:a16="http://schemas.microsoft.com/office/drawing/2014/main" id="{8FACC571-ABDB-4C1F-8A8B-53E362E113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34" name="Picture 33">
            <a:extLst>
              <a:ext uri="{FF2B5EF4-FFF2-40B4-BE49-F238E27FC236}">
                <a16:creationId xmlns:a16="http://schemas.microsoft.com/office/drawing/2014/main" id="{F486E5BD-1557-41D9-A119-D5F62647AB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3" name="Content Placeholder 2">
            <a:extLst>
              <a:ext uri="{FF2B5EF4-FFF2-40B4-BE49-F238E27FC236}">
                <a16:creationId xmlns:a16="http://schemas.microsoft.com/office/drawing/2014/main" id="{C3BE2E33-9213-BB8B-50AC-3C767BB6922D}"/>
              </a:ext>
            </a:extLst>
          </p:cNvPr>
          <p:cNvSpPr>
            <a:spLocks noGrp="1"/>
          </p:cNvSpPr>
          <p:nvPr>
            <p:ph sz="half" idx="1"/>
          </p:nvPr>
        </p:nvSpPr>
        <p:spPr>
          <a:xfrm>
            <a:off x="477982" y="2427535"/>
            <a:ext cx="4362925" cy="2975738"/>
          </a:xfrm>
        </p:spPr>
        <p:txBody>
          <a:bodyPr>
            <a:normAutofit/>
          </a:bodyPr>
          <a:lstStyle/>
          <a:p>
            <a:pPr marL="0" indent="0" defTabSz="713232">
              <a:spcBef>
                <a:spcPts val="780"/>
              </a:spcBef>
              <a:buNone/>
            </a:pPr>
            <a:r>
              <a:rPr lang="en-US" sz="2000" kern="1200" dirty="0">
                <a:solidFill>
                  <a:schemeClr val="tx1"/>
                </a:solidFill>
                <a:latin typeface="+mn-lt"/>
                <a:ea typeface="+mn-ea"/>
                <a:cs typeface="+mn-cs"/>
              </a:rPr>
              <a:t>Increase Selection of Cheeses</a:t>
            </a:r>
          </a:p>
          <a:p>
            <a:pPr marL="178308" indent="-178308" defTabSz="713232">
              <a:spcBef>
                <a:spcPts val="780"/>
              </a:spcBef>
            </a:pPr>
            <a:r>
              <a:rPr lang="en-US" sz="2000" kern="1200" dirty="0">
                <a:solidFill>
                  <a:schemeClr val="tx1"/>
                </a:solidFill>
                <a:latin typeface="+mn-lt"/>
                <a:ea typeface="+mn-ea"/>
                <a:cs typeface="+mn-cs"/>
              </a:rPr>
              <a:t>Variety of cheeses:</a:t>
            </a:r>
          </a:p>
          <a:p>
            <a:pPr marL="534924" lvl="1" indent="-178308" defTabSz="713232">
              <a:spcBef>
                <a:spcPts val="390"/>
              </a:spcBef>
            </a:pPr>
            <a:r>
              <a:rPr lang="en-US" sz="1700" kern="1200" dirty="0">
                <a:solidFill>
                  <a:schemeClr val="tx1"/>
                </a:solidFill>
                <a:latin typeface="+mn-lt"/>
                <a:ea typeface="+mn-ea"/>
                <a:cs typeface="+mn-cs"/>
              </a:rPr>
              <a:t>Imported</a:t>
            </a:r>
          </a:p>
          <a:p>
            <a:pPr marL="534924" lvl="1" indent="-178308" defTabSz="713232">
              <a:spcBef>
                <a:spcPts val="390"/>
              </a:spcBef>
            </a:pPr>
            <a:r>
              <a:rPr lang="en-US" sz="1700" kern="1200" dirty="0">
                <a:solidFill>
                  <a:schemeClr val="tx1"/>
                </a:solidFill>
                <a:latin typeface="+mn-lt"/>
                <a:ea typeface="+mn-ea"/>
                <a:cs typeface="+mn-cs"/>
              </a:rPr>
              <a:t>Gourmet</a:t>
            </a:r>
          </a:p>
          <a:p>
            <a:pPr marL="356616" lvl="1" indent="0" defTabSz="713232">
              <a:spcBef>
                <a:spcPts val="390"/>
              </a:spcBef>
              <a:buNone/>
            </a:pPr>
            <a:endParaRPr lang="en-US" sz="1560" kern="1200" dirty="0">
              <a:solidFill>
                <a:schemeClr val="tx1"/>
              </a:solidFill>
              <a:latin typeface="+mn-lt"/>
              <a:ea typeface="+mn-ea"/>
              <a:cs typeface="+mn-cs"/>
            </a:endParaRPr>
          </a:p>
          <a:p>
            <a:pPr marL="0" indent="0" defTabSz="713232">
              <a:spcBef>
                <a:spcPts val="780"/>
              </a:spcBef>
              <a:buNone/>
            </a:pPr>
            <a:r>
              <a:rPr lang="en-US" sz="2000" kern="1200" dirty="0">
                <a:solidFill>
                  <a:schemeClr val="tx1"/>
                </a:solidFill>
                <a:latin typeface="+mn-lt"/>
                <a:ea typeface="+mn-ea"/>
                <a:cs typeface="+mn-cs"/>
              </a:rPr>
              <a:t>Make Prices Reasonable</a:t>
            </a:r>
          </a:p>
          <a:p>
            <a:pPr marL="178308" indent="-178308" defTabSz="713232">
              <a:spcBef>
                <a:spcPts val="780"/>
              </a:spcBef>
            </a:pPr>
            <a:r>
              <a:rPr lang="en-US" sz="1700" kern="1200" dirty="0">
                <a:solidFill>
                  <a:schemeClr val="tx1"/>
                </a:solidFill>
                <a:latin typeface="+mn-lt"/>
                <a:ea typeface="+mn-ea"/>
                <a:cs typeface="+mn-cs"/>
              </a:rPr>
              <a:t>Coupons; Offers</a:t>
            </a:r>
          </a:p>
          <a:p>
            <a:pPr marL="178308" indent="-178308" defTabSz="713232">
              <a:spcBef>
                <a:spcPts val="780"/>
              </a:spcBef>
            </a:pPr>
            <a:r>
              <a:rPr lang="en-US" sz="1700" kern="1200" dirty="0">
                <a:solidFill>
                  <a:schemeClr val="tx1"/>
                </a:solidFill>
                <a:latin typeface="+mn-lt"/>
                <a:ea typeface="+mn-ea"/>
                <a:cs typeface="+mn-cs"/>
              </a:rPr>
              <a:t>Special discount days</a:t>
            </a:r>
          </a:p>
          <a:p>
            <a:endParaRPr lang="en-US" dirty="0"/>
          </a:p>
        </p:txBody>
      </p:sp>
      <p:graphicFrame>
        <p:nvGraphicFramePr>
          <p:cNvPr id="7" name="Content Placeholder 6">
            <a:extLst>
              <a:ext uri="{FF2B5EF4-FFF2-40B4-BE49-F238E27FC236}">
                <a16:creationId xmlns:a16="http://schemas.microsoft.com/office/drawing/2014/main" id="{7FD2D403-CDB3-4D34-73F4-722974C722D3}"/>
              </a:ext>
            </a:extLst>
          </p:cNvPr>
          <p:cNvGraphicFramePr>
            <a:graphicFrameLocks noGrp="1"/>
          </p:cNvGraphicFramePr>
          <p:nvPr>
            <p:ph sz="half" idx="2"/>
            <p:extLst>
              <p:ext uri="{D42A27DB-BD31-4B8C-83A1-F6EECF244321}">
                <p14:modId xmlns:p14="http://schemas.microsoft.com/office/powerpoint/2010/main" val="3912567043"/>
              </p:ext>
            </p:extLst>
          </p:nvPr>
        </p:nvGraphicFramePr>
        <p:xfrm>
          <a:off x="4977245" y="2255405"/>
          <a:ext cx="5143501" cy="3480378"/>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516957012"/>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535</TotalTime>
  <Words>1998</Words>
  <Application>Microsoft Office PowerPoint</Application>
  <PresentationFormat>Widescreen</PresentationFormat>
  <Paragraphs>190</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 New Roman</vt:lpstr>
      <vt:lpstr>Trebuchet MS</vt:lpstr>
      <vt:lpstr>Berlin</vt:lpstr>
      <vt:lpstr>International Cheese Shop Research Study</vt:lpstr>
      <vt:lpstr>Executive Summary</vt:lpstr>
      <vt:lpstr>Background   —  International Cheese Shop</vt:lpstr>
      <vt:lpstr>Research Objective</vt:lpstr>
      <vt:lpstr>Research Questions</vt:lpstr>
      <vt:lpstr>Methodology</vt:lpstr>
      <vt:lpstr>Response Rate</vt:lpstr>
      <vt:lpstr>Qualitative Evaluation  —  Insight</vt:lpstr>
      <vt:lpstr>Qualitative Evaluation  —  Insight</vt:lpstr>
      <vt:lpstr>PowerPoint Presentation</vt:lpstr>
      <vt:lpstr>PowerPoint Presentation</vt:lpstr>
      <vt:lpstr>PowerPoint Presentation</vt:lpstr>
      <vt:lpstr>PowerPoint Presentation</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Briana</dc:creator>
  <cp:lastModifiedBy>Briana B</cp:lastModifiedBy>
  <cp:revision>17</cp:revision>
  <dcterms:created xsi:type="dcterms:W3CDTF">2023-09-01T22:41:13Z</dcterms:created>
  <dcterms:modified xsi:type="dcterms:W3CDTF">2024-08-21T19:10:47Z</dcterms:modified>
</cp:coreProperties>
</file>